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  <p:sldId id="275" r:id="rId5"/>
    <p:sldId id="259" r:id="rId6"/>
    <p:sldId id="268" r:id="rId7"/>
    <p:sldId id="260" r:id="rId8"/>
    <p:sldId id="269" r:id="rId9"/>
    <p:sldId id="270" r:id="rId10"/>
    <p:sldId id="271" r:id="rId11"/>
    <p:sldId id="261" r:id="rId12"/>
    <p:sldId id="262" r:id="rId13"/>
    <p:sldId id="263" r:id="rId14"/>
    <p:sldId id="264" r:id="rId15"/>
    <p:sldId id="272" r:id="rId16"/>
    <p:sldId id="273" r:id="rId17"/>
    <p:sldId id="265" r:id="rId18"/>
    <p:sldId id="266" r:id="rId19"/>
    <p:sldId id="274" r:id="rId20"/>
    <p:sldId id="267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 sz="1300" b="1" i="0">
                <a:solidFill>
                  <a:srgbClr val="1D2F82"/>
                </a:solidFill>
                <a:latin typeface="Calibri" panose="020F0502020204030204"/>
              </a:rPr>
              <a:t>Final task score per query</a:t>
            </a:r>
            <a:endParaRPr lang="en-IN" sz="1300" b="1" i="0">
              <a:solidFill>
                <a:srgbClr val="1D2F82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Final score</c:v>
                </c:pt>
              </c:strCache>
            </c:strRef>
          </c:tx>
          <c:spPr>
            <a:solidFill>
              <a:srgbClr val="1D2F82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1D2F82"/>
              </a:solidFill>
            </c:spPr>
          </c:dPt>
          <c:dPt>
            <c:idx val="1"/>
            <c:invertIfNegative val="1"/>
            <c:bubble3D val="0"/>
            <c:spPr>
              <a:solidFill>
                <a:srgbClr val="1D2F82"/>
              </a:solidFill>
            </c:spPr>
          </c:dPt>
          <c:dPt>
            <c:idx val="2"/>
            <c:invertIfNegative val="1"/>
            <c:bubble3D val="0"/>
            <c:spPr>
              <a:solidFill>
                <a:srgbClr val="1D2F82"/>
              </a:solidFill>
            </c:spPr>
          </c:dPt>
          <c:dPt>
            <c:idx val="3"/>
            <c:invertIfNegative val="1"/>
            <c:bubble3D val="0"/>
            <c:spPr>
              <a:solidFill>
                <a:srgbClr val="1D2F82"/>
              </a:solidFill>
            </c:spPr>
          </c:dPt>
          <c:dPt>
            <c:idx val="4"/>
            <c:invertIfNegative val="1"/>
            <c:bubble3D val="0"/>
            <c:spPr>
              <a:solidFill>
                <a:srgbClr val="1D2F82"/>
              </a:solidFill>
            </c:spPr>
          </c:dPt>
          <c:dPt>
            <c:idx val="5"/>
            <c:invertIfNegative val="1"/>
            <c:bubble3D val="0"/>
            <c:spPr>
              <a:solidFill>
                <a:srgbClr val="1D2F82"/>
              </a:solidFill>
            </c:spPr>
          </c:dPt>
          <c:dPt>
            <c:idx val="6"/>
            <c:invertIfNegative val="1"/>
            <c:bubble3D val="0"/>
            <c:spPr>
              <a:solidFill>
                <a:srgbClr val="1D2F82"/>
              </a:solidFill>
            </c:spPr>
          </c:dPt>
          <c:dPt>
            <c:idx val="7"/>
            <c:invertIfNegative val="1"/>
            <c:bubble3D val="0"/>
            <c:spPr>
              <a:solidFill>
                <a:srgbClr val="D96C1E"/>
              </a:solidFill>
            </c:spPr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rgbClr val="595959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Wine glass</c:v>
                </c:pt>
                <c:pt idx="1">
                  <c:v>Bottle</c:v>
                </c:pt>
                <c:pt idx="2">
                  <c:v>Knife</c:v>
                </c:pt>
                <c:pt idx="3">
                  <c:v>Cup</c:v>
                </c:pt>
                <c:pt idx="4">
                  <c:v>Toilet</c:v>
                </c:pt>
                <c:pt idx="5">
                  <c:v>Couch</c:v>
                </c:pt>
                <c:pt idx="6">
                  <c:v>Fire hydrant</c:v>
                </c:pt>
                <c:pt idx="7">
                  <c:v>Horse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0.807</c:v>
                </c:pt>
                <c:pt idx="1">
                  <c:v>0.813</c:v>
                </c:pt>
                <c:pt idx="2">
                  <c:v>0.765</c:v>
                </c:pt>
                <c:pt idx="3">
                  <c:v>0.774</c:v>
                </c:pt>
                <c:pt idx="4">
                  <c:v>0.763</c:v>
                </c:pt>
                <c:pt idx="5">
                  <c:v>0.753</c:v>
                </c:pt>
                <c:pt idx="6">
                  <c:v>0.763</c:v>
                </c:pt>
                <c:pt idx="7">
                  <c:v>0.859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350" cap="flat" cmpd="sng" algn="ctr">
            <a:solidFill>
              <a:srgbClr val="BFBFBF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A1A1A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9"/>
          <c:min val="0.6"/>
        </c:scaling>
        <c:delete val="0"/>
        <c:axPos val="t"/>
        <c:majorGridlines>
          <c:spPr>
            <a:ln w="635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  <c:extLst>
      <c:ext uri="{0b15fc19-7d7d-44ad-8c2d-2c3a37ce22c3}">
        <chartProps xmlns="https://web.wps.cn/et/2018/main" chartId="{083f1f64-303f-459f-ab10-d04d58e08346}"/>
      </c:ext>
    </c:extLst>
  </c:chart>
  <c:txPr>
    <a:bodyPr/>
    <a:lstStyle/>
    <a:p>
      <a:pPr>
        <a:defRPr lang="en-GB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architecture / block diagram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Project-I (2026)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25880"/>
            <a:ext cx="11091672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Task-Aware Object Identification for Assistive Robotics using PYNQ-Z2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Name(s):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2788920"/>
            <a:ext cx="4023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Shubh Gupta — 23BLC1322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Aarav Sharma — 23BLC1300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Ankush Kumar Jaiswal — 23BLC1179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4720" y="3566160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70332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70332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Prof. Jean Jenifer Nesam J, SENSE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410565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251959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Programme / School: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251959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B.Tech — SENSE, VIT Chennai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4720" y="465429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480060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&amp; Date: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0060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Review-II  ·  30.09.2026 (Wednesday)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4720" y="520293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278892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0" y="29718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6118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160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Date: _________________________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Approval is mandatory before every review. After signing, scan this slide and keep the scanned copy as Slide 1 of the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6999" y="-2667004"/>
            <a:ext cx="6858002" cy="121920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&amp; Problem Recap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D2F82"/>
                </a:solidFill>
                <a:latin typeface="Calibri" panose="020F0502020204030204"/>
              </a:rPr>
              <a:t>Problem recap: </a:t>
            </a:r>
            <a:r>
              <a:rPr lang="en-US" sz="1500" dirty="0">
                <a:solidFill>
                  <a:srgbClr val="1A1A1A"/>
                </a:solidFill>
                <a:latin typeface="Calibri" panose="020F0502020204030204"/>
              </a:rPr>
              <a:t>an object detector tells a robot </a:t>
            </a:r>
            <a:r>
              <a:rPr lang="en-US" sz="1500" b="1" dirty="0">
                <a:solidFill>
                  <a:srgbClr val="1A1A1A"/>
                </a:solidFill>
                <a:latin typeface="Calibri" panose="020F0502020204030204"/>
              </a:rPr>
              <a:t>what</a:t>
            </a:r>
            <a:r>
              <a:rPr lang="en-US" sz="1500" dirty="0">
                <a:solidFill>
                  <a:srgbClr val="1A1A1A"/>
                </a:solidFill>
                <a:latin typeface="Calibri" panose="020F0502020204030204"/>
              </a:rPr>
              <a:t> is in the scene, but not </a:t>
            </a:r>
            <a:r>
              <a:rPr lang="en-US" sz="1500" b="1" dirty="0">
                <a:solidFill>
                  <a:srgbClr val="1A1A1A"/>
                </a:solidFill>
                <a:latin typeface="Calibri" panose="020F0502020204030204"/>
              </a:rPr>
              <a:t>which</a:t>
            </a:r>
            <a:r>
              <a:rPr lang="en-US" sz="1500" dirty="0">
                <a:solidFill>
                  <a:srgbClr val="1A1A1A"/>
                </a:solidFill>
                <a:latin typeface="Calibri" panose="020F0502020204030204"/>
              </a:rPr>
              <a:t> object satisfies a spoken task. Asked “bring me something to sit on”, an assistive robot must choose the chair, not just list chair, TV and laptop.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D2F82"/>
                </a:solidFill>
                <a:latin typeface="Calibri" panose="020F0502020204030204"/>
              </a:rPr>
              <a:t>Review-II focus: </a:t>
            </a:r>
            <a:r>
              <a:rPr lang="en-US" sz="1500" dirty="0">
                <a:solidFill>
                  <a:srgbClr val="1A1A1A"/>
                </a:solidFill>
                <a:latin typeface="Calibri" panose="020F0502020204030204"/>
              </a:rPr>
              <a:t>the general task-aware vision system from Review-I is now narrowed to one application: </a:t>
            </a:r>
            <a:r>
              <a:rPr lang="en-US" sz="1500" b="1" dirty="0">
                <a:solidFill>
                  <a:srgbClr val="1A1A1A"/>
                </a:solidFill>
                <a:latin typeface="Calibri" panose="020F0502020204030204"/>
              </a:rPr>
              <a:t>assistive robotics</a:t>
            </a:r>
            <a:r>
              <a:rPr lang="en-US" sz="1500" dirty="0">
                <a:solidFill>
                  <a:srgbClr val="1A1A1A"/>
                </a:solidFill>
                <a:latin typeface="Calibri" panose="020F0502020204030204"/>
              </a:rPr>
              <a:t> (a home / care-assist robot that finds the object a user asks for).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D2F82"/>
                </a:solidFill>
                <a:latin typeface="Calibri" panose="020F0502020204030204"/>
              </a:rPr>
              <a:t>Objectives:</a:t>
            </a:r>
            <a:endParaRPr lang="en-US" sz="1600" dirty="0"/>
          </a:p>
          <a:p>
            <a:pPr marL="457200" indent="-18288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Run Tiny YOLOv2 detection on the PYNQ-Z2 (Zynq XC7Z020) as the robot’s on-board perception.</a:t>
            </a:r>
            <a:endParaRPr lang="en-US" sz="1600" dirty="0"/>
          </a:p>
          <a:p>
            <a:pPr marL="457200" indent="-18288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Rank the detected objects against a natural-language task using CLIP text embeddings and cosine similarity.</a:t>
            </a:r>
            <a:endParaRPr lang="en-US" sz="1600" dirty="0"/>
          </a:p>
          <a:p>
            <a:pPr marL="457200" indent="-18288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Output the selected object’s class, confidence, score and bounding box as a robot-ready target.</a:t>
            </a:r>
            <a:endParaRPr lang="en-US" sz="1600" dirty="0"/>
          </a:p>
          <a:p>
            <a:pPr marL="457200" indent="-18288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Keep inference on the edge board: ~30 FPS target within a &lt; 15 W power envelope.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D2F82"/>
                </a:solidFill>
                <a:latin typeface="Calibri" panose="020F0502020204030204"/>
              </a:rPr>
              <a:t>Refinements since Review-I:</a:t>
            </a:r>
            <a:endParaRPr lang="en-US" sz="1600" dirty="0"/>
          </a:p>
          <a:p>
            <a:pPr marL="457200" indent="-18288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Scope narrowed from six candidate applications to assistive robotics.</a:t>
            </a:r>
            <a:endParaRPr lang="en-US" sz="1600" dirty="0"/>
          </a:p>
          <a:p>
            <a:pPr marL="457200" indent="-18288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End-to-end pipeline (detect → filter → CLIP encode → rank → select) now runs on the PYNQ-Z2 board.</a:t>
            </a:r>
            <a:endParaRPr lang="en-US" sz="1600" dirty="0"/>
          </a:p>
          <a:p>
            <a:pPr marL="457200" indent="-182880">
              <a:spcAft>
                <a:spcPts val="5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Output formalised as JSON + annotated frame for a robot controller; literature extended to 15 papers.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Focus: Assistive Robotics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0" i="1">
                <a:solidFill>
                  <a:srgbClr val="595959"/>
                </a:solidFill>
                <a:latin typeface="Calibri" panose="020F0502020204030204"/>
              </a:rPr>
              <a:t>How the system serves an assistive robot, from spoken request to action</a:t>
            </a:r>
            <a:endParaRPr sz="1500" b="0" i="1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947672" cy="141732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673351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D2F82"/>
                </a:solidFill>
                <a:latin typeface="Calibri" panose="020F0502020204030204"/>
              </a:rPr>
              <a:t>1  User request</a:t>
            </a:r>
            <a:endParaRPr sz="1400" b="1" i="0">
              <a:solidFill>
                <a:srgbClr val="1D2F82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alibri" panose="020F0502020204030204"/>
              </a:rPr>
              <a:t>“Bring me something to sit on”</a:t>
            </a:r>
            <a:endParaRPr sz="12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2551176" y="2258568"/>
            <a:ext cx="228600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1691640"/>
            <a:ext cx="1947672" cy="141732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971800" y="1783080"/>
            <a:ext cx="1673351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D2F82"/>
                </a:solidFill>
                <a:latin typeface="Calibri" panose="020F0502020204030204"/>
              </a:rPr>
              <a:t>2  </a:t>
            </a:r>
            <a:r>
              <a:rPr lang="en-IN" sz="1400" b="1" i="0">
                <a:solidFill>
                  <a:srgbClr val="1D2F82"/>
                </a:solidFill>
                <a:latin typeface="Calibri" panose="020F0502020204030204"/>
              </a:rPr>
              <a:t>C</a:t>
            </a:r>
            <a:r>
              <a:rPr sz="1400" b="1" i="0">
                <a:solidFill>
                  <a:srgbClr val="1D2F82"/>
                </a:solidFill>
                <a:latin typeface="Calibri" panose="020F0502020204030204"/>
              </a:rPr>
              <a:t>amera</a:t>
            </a:r>
            <a:endParaRPr sz="1400" b="1" i="0">
              <a:solidFill>
                <a:srgbClr val="1D2F82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alibri" panose="020F0502020204030204"/>
              </a:rPr>
              <a:t>Frame of the room captured</a:t>
            </a:r>
            <a:endParaRPr sz="12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4837176" y="2258568"/>
            <a:ext cx="228600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20640" y="1691640"/>
            <a:ext cx="1947672" cy="141732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257800" y="1783080"/>
            <a:ext cx="1673351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D2F82"/>
                </a:solidFill>
                <a:latin typeface="Calibri" panose="020F0502020204030204"/>
              </a:rPr>
              <a:t>3  FPGA detection</a:t>
            </a:r>
            <a:endParaRPr sz="1400" b="1" i="0">
              <a:solidFill>
                <a:srgbClr val="1D2F82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alibri" panose="020F0502020204030204"/>
              </a:rPr>
              <a:t>Tiny YOLOv2 on PYNQ-Z2 finds chair, TV, laptop, person</a:t>
            </a:r>
            <a:endParaRPr sz="12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7123175" y="2258568"/>
            <a:ext cx="228600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06640" y="1691640"/>
            <a:ext cx="1947672" cy="1417320"/>
          </a:xfrm>
          <a:prstGeom prst="roundRect">
            <a:avLst>
              <a:gd name="adj" fmla="val 6000"/>
            </a:avLst>
          </a:prstGeom>
          <a:solidFill>
            <a:srgbClr val="E6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43800" y="1783080"/>
            <a:ext cx="1673351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E7C86"/>
                </a:solidFill>
                <a:latin typeface="Calibri" panose="020F0502020204030204"/>
              </a:rPr>
              <a:t>4  Semantic ranking</a:t>
            </a:r>
            <a:endParaRPr sz="1400" b="1" i="0">
              <a:solidFill>
                <a:srgbClr val="0E7C86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alibri" panose="020F0502020204030204"/>
              </a:rPr>
              <a:t>CLIP task embedding vs. object labels → scores</a:t>
            </a:r>
            <a:endParaRPr sz="12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9409176" y="2258568"/>
            <a:ext cx="228600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92640" y="1691640"/>
            <a:ext cx="1947672" cy="141732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829800" y="1783080"/>
            <a:ext cx="1673351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96C1E"/>
                </a:solidFill>
                <a:latin typeface="Calibri" panose="020F0502020204030204"/>
              </a:rPr>
              <a:t>5 </a:t>
            </a:r>
            <a:r>
              <a:rPr lang="en-IN" sz="1400" b="1" i="0">
                <a:solidFill>
                  <a:srgbClr val="D96C1E"/>
                </a:solidFill>
                <a:latin typeface="Calibri" panose="020F0502020204030204"/>
              </a:rPr>
              <a:t>Ac</a:t>
            </a:r>
            <a:r>
              <a:rPr sz="1400" b="1" i="0">
                <a:solidFill>
                  <a:srgbClr val="D96C1E"/>
                </a:solidFill>
                <a:latin typeface="Calibri" panose="020F0502020204030204"/>
              </a:rPr>
              <a:t>tion</a:t>
            </a:r>
            <a:endParaRPr sz="1400" b="1" i="0">
              <a:solidFill>
                <a:srgbClr val="D96C1E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alibri" panose="020F0502020204030204"/>
              </a:rPr>
              <a:t>Chair selected; bbox guides navigate / grasp</a:t>
            </a:r>
            <a:endParaRPr sz="12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 i="0">
                <a:solidFill>
                  <a:srgbClr val="1D2F82"/>
                </a:solidFill>
                <a:latin typeface="Calibri" panose="020F0502020204030204"/>
              </a:rPr>
              <a:t>Why assistive robotics</a:t>
            </a:r>
            <a:endParaRPr sz="18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324612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D2F82"/>
                </a:solidFill>
                <a:latin typeface="Calibri" panose="020F0502020204030204"/>
              </a:rPr>
              <a:t>Users give tasks, not class names</a:t>
            </a:r>
            <a:endParaRPr sz="1400" b="1" i="0">
              <a:solidFill>
                <a:srgbClr val="1D2F82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alibri" panose="020F0502020204030204"/>
              </a:rPr>
              <a:t>Elderly or mobility-impaired users say what they need (“something to drink from”), so the robot must map intent to an object.</a:t>
            </a:r>
            <a:endParaRPr sz="12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297679" y="38862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434840" y="3977639"/>
            <a:ext cx="324612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D2F82"/>
                </a:solidFill>
                <a:latin typeface="Calibri" panose="020F0502020204030204"/>
              </a:rPr>
              <a:t>Must run on the robot</a:t>
            </a:r>
            <a:endParaRPr sz="1400" b="1" i="0">
              <a:solidFill>
                <a:srgbClr val="1D2F82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alibri" panose="020F0502020204030204"/>
              </a:rPr>
              <a:t>Battery-powered robots need low-latency, low-power, private on-board inference; no cloud round-trip.</a:t>
            </a:r>
            <a:endParaRPr sz="12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46719" y="388620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83879" y="3977639"/>
            <a:ext cx="324612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D2F82"/>
                </a:solidFill>
                <a:latin typeface="Calibri" panose="020F0502020204030204"/>
              </a:rPr>
              <a:t>Matches our FPGA + CPU split</a:t>
            </a:r>
            <a:endParaRPr sz="1400" b="1" i="0">
              <a:solidFill>
                <a:srgbClr val="1D2F82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Calibri" panose="020F0502020204030204"/>
              </a:rPr>
              <a:t>Heavy convolution runs in PL fabric; flexible language reasoning runs on the ARM processor.</a:t>
            </a:r>
            <a:endParaRPr sz="12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1D2F82"/>
                </a:solidFill>
                <a:latin typeface="Calibri" panose="020F0502020204030204"/>
              </a:rPr>
              <a:t>Example household tasks tested:  </a:t>
            </a:r>
            <a:r>
              <a:rPr sz="1300" b="0" i="0">
                <a:solidFill>
                  <a:srgbClr val="1A1A1A"/>
                </a:solidFill>
                <a:latin typeface="Calibri" panose="020F0502020204030204"/>
              </a:rPr>
              <a:t>“object used to serve wine” → wine glass   •   “item to smear butter on bread” → knife   •   “thing used by human as a transport” → horse</a:t>
            </a:r>
            <a:endParaRPr sz="1300" b="0" i="0">
              <a:solidFill>
                <a:srgbClr val="1A1A1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Detailed Literature Review (1/3)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188720"/>
          <a:ext cx="11091672" cy="3931920"/>
        </p:xfrm>
        <a:graphic>
          <a:graphicData uri="http://schemas.openxmlformats.org/drawingml/2006/table">
            <a:tbl>
              <a:tblPr/>
              <a:tblGrid>
                <a:gridCol w="548640"/>
                <a:gridCol w="1920240"/>
                <a:gridCol w="3108960"/>
                <a:gridCol w="2377440"/>
                <a:gridCol w="3136392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Author(s) &amp; Year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Title / Source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 / Approach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Findings &amp; Research Gap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J. Redmon et al., 2016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You Only Look Once: Unified, Real-Time Object Detection (CVPR)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Single-stage CNN predicts boxes + classes in one pass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Real-time detection, but fixed class labels; no task reasoning.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J. Redmon, A. Farhadi, 2017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YOLO9000: Better, Faster, Stronger (CVPR)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Anchor boxes, Darknet-19; Tiny YOLOv2 variant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Basis of our detector; outputs objects only, not task relevance.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Z. Yan et al., 2024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An FPGA-Based YOLOv5 Accelerator for Real-Time Industrial Vision Applications (Micromachines)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4-bit quantised YOLOv5 accelerator on FPGA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Real-time FPGA YOLO is feasible; detection only, no semantic layer.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E. Emmanuel et al., 2024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Optimizing Resource Utilization and Power Efficiency in FPGA-Accelerated YOLOv8 Using Vivado HLS (AIBThings)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HLS pragmas and resource / power tuning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Guides LUT/DSP/BRAM budgeting; no language-driven selection.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X. Sha et al., 2025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An FPGA-Based YOLOv6 Accelerator for High-Throughput and Energy-Efficient Object Detection (IEICE Trans.)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Dataflow FPGA accelerator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High throughput per watt; evaluated on generic detection only.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FPGA-accelerated detection: hardware basis for on-robot perception.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Detailed Literature Review (2/3)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188720"/>
          <a:ext cx="11091672" cy="3931920"/>
        </p:xfrm>
        <a:graphic>
          <a:graphicData uri="http://schemas.openxmlformats.org/drawingml/2006/table">
            <a:tbl>
              <a:tblPr/>
              <a:tblGrid>
                <a:gridCol w="548640"/>
                <a:gridCol w="1920240"/>
                <a:gridCol w="3108960"/>
                <a:gridCol w="2377440"/>
                <a:gridCol w="3136392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Author(s) &amp; Year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Title / Source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 / Approach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Findings &amp; Research Gap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6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Z. Zhang et al., 2022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Resource-Constrained FPGA Implementation of YOLOv2 (Neural Comput. Appl.)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YOLOv2 mapped to a low-DSP/BRAM FPGA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YOLOv2 fits XC7Z020-class devices; no assistive use-case.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7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Y. Umuroglu et al., 2017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FINN: A Framework for Fast, Scalable Binarized Neural Network Inference (ACM FPGA)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Quantised NN → streaming dataflow on Zynq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Foundation of PYNQ QNN overlays; no semantic reasoning.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8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A. Radford et al., 2021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Learning Transferable Visual Models From Natural Language Supervision — CLIP (ICML)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Contrastive image–text pre-training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Shared text/image space used for our ranking; heavy for edge.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9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J. Sawatzky et al., 2019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What Object Should I Use? – Task Driven Object Detection (CVPR)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COCO-Tasks dataset (14 tasks); graph network over detections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Defines task-driven detection; fixed task list, GPU-based.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P. Li et al., 2022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TOIST: Task Oriented Instance Segmentation Transformer with Noun-Pronoun Distillation (NeurIPS)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Transformer + noun–pronoun distillation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Better task-oriented selection; too heavy for embedded boards.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Quantised FPGA inference, vision-language embeddings and task-driven detection.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Detailed Literature Review (3/3)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188720"/>
          <a:ext cx="11091672" cy="3931920"/>
        </p:xfrm>
        <a:graphic>
          <a:graphicData uri="http://schemas.openxmlformats.org/drawingml/2006/table">
            <a:tbl>
              <a:tblPr/>
              <a:tblGrid>
                <a:gridCol w="548640"/>
                <a:gridCol w="1920240"/>
                <a:gridCol w="3108960"/>
                <a:gridCol w="2377440"/>
                <a:gridCol w="3136392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Author(s) &amp; Year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Title / Source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 / Approach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Findings &amp; Research Gap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J. Tang et al., 2023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CoTDet: Affordance Knowledge Prompting for Task Driven Object Detection (ICCV)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LLM-generated affordance knowledge guides the detector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High accuracy; needs a large LLM, not real-time on edge.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M. Minderer et al., 2022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Simple Open-Vocabulary Object Detection with Vision Transformers — OWL-ViT (ECCV)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ViT detector queried with free text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Text-queried boxes; ViT cost unsuitable for PYNQ-class hardware.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13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T. Cheng et al., 2024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YOLO-World: Real-Time Open-Vocabulary Object Detection (CVPR)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YOLO + CLIP text encoder, vision-language PAN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Real-time on GPU; matches object names, not task intent.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14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M. Shridhar et al., 2021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CLIPort: What and Where Pathways for Robotic Manipulation (CoRL)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CLIP semantics + spatial transport stream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Language-conditioned manipulation; GPU policy, no FPGA perception.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15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M. Ahn et al., 2022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Do As I Can, Not As I Say: Grounding Language in Robotic Affordances — SayCan (CoRL)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LLM planning × robot affordance values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Grounds instructions for assistive robots; cloud-scale LLM latency.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Open-vocabulary detection and language-grounded robotics; research gaps follow on the next slide.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Gaps Identified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440680" cy="16002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166360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D2F82"/>
                </a:solidFill>
                <a:latin typeface="Calibri" panose="020F0502020204030204"/>
              </a:rPr>
              <a:t>Gap 1:  Task-driven detection is GPU-bound</a:t>
            </a:r>
            <a:endParaRPr sz="1500" b="1" i="0">
              <a:solidFill>
                <a:srgbClr val="1D2F82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alibri" panose="020F0502020204030204"/>
              </a:rPr>
              <a:t>COCO-Tasks, TOIST and CoTDet [9]–[11] select objects for a task, but all run on desktop GPUs; none target low-power FPGA boards used on mobile robots.</a:t>
            </a:r>
            <a:endParaRPr sz="13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440680" cy="16002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09360" y="1325880"/>
            <a:ext cx="5166360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D2F82"/>
                </a:solidFill>
                <a:latin typeface="Calibri" panose="020F0502020204030204"/>
              </a:rPr>
              <a:t>Gap 2:  FPGA YOLO accelerators stop at labels</a:t>
            </a:r>
            <a:endParaRPr sz="1500" b="1" i="0">
              <a:solidFill>
                <a:srgbClr val="1D2F82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alibri" panose="020F0502020204030204"/>
              </a:rPr>
              <a:t>Accelerators [3]–[7] optimise FPS and FPS/W, yet output only class labels; they never decide which object fits the user’s need.</a:t>
            </a:r>
            <a:endParaRPr sz="13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5440680" cy="16002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5166360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D2F82"/>
                </a:solidFill>
                <a:latin typeface="Calibri" panose="020F0502020204030204"/>
              </a:rPr>
              <a:t>Gap 3:  Language-grounded robotics needs heavy compute</a:t>
            </a:r>
            <a:endParaRPr sz="1500" b="1" i="0">
              <a:solidFill>
                <a:srgbClr val="1D2F82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alibri" panose="020F0502020204030204"/>
              </a:rPr>
              <a:t>OWL-ViT, YOLO-World, CLIPort and SayCan [12]–[15] depend on GPU or cloud models, adding latency, power draw and privacy concerns in a home.</a:t>
            </a:r>
            <a:endParaRPr sz="13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3017520"/>
            <a:ext cx="5440680" cy="16002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5166360" cy="1417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D2F82"/>
                </a:solidFill>
                <a:latin typeface="Calibri" panose="020F0502020204030204"/>
              </a:rPr>
              <a:t>Gap 4:  No robot-ready edge pipeline</a:t>
            </a:r>
            <a:endParaRPr sz="1500" b="1" i="0">
              <a:solidFill>
                <a:srgbClr val="1D2F82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Calibri" panose="020F0502020204030204"/>
              </a:rPr>
              <a:t>No lightweight system combines FPGA detection with CLIP-based task ranking and returns one target (class + bbox + score) a robot can act on.</a:t>
            </a:r>
            <a:endParaRPr sz="13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E6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49834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E7C86"/>
                </a:solidFill>
                <a:latin typeface="Calibri" panose="020F0502020204030204"/>
              </a:rPr>
              <a:t>How this project addresses them</a:t>
            </a:r>
            <a:endParaRPr sz="1500" b="1" i="0">
              <a:solidFill>
                <a:srgbClr val="0E7C86"/>
              </a:solidFill>
              <a:latin typeface="Calibri" panose="020F0502020204030204"/>
            </a:endParaRPr>
          </a:p>
          <a:p>
            <a:pPr algn="l"/>
            <a:r>
              <a:rPr sz="1300" b="0" i="0">
                <a:solidFill>
                  <a:srgbClr val="1A1A1A"/>
                </a:solidFill>
                <a:latin typeface="Calibri" panose="020F0502020204030204"/>
              </a:rPr>
              <a:t>Tiny YOLOv2 runs on the PYNQ-Z2 as on-board perception; CLIP text embeddings on the ARM Cortex-A9 rank each detection against the user’s task; the top object is returned as JSON with its bounding box for the assistive robot.</a:t>
            </a:r>
            <a:endParaRPr sz="1300" b="0" i="0">
              <a:solidFill>
                <a:srgbClr val="1A1A1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 &amp; Architecture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463040"/>
            <a:ext cx="2011680" cy="123444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73736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D2F82"/>
                </a:solidFill>
                <a:latin typeface="Calibri" panose="020F0502020204030204"/>
              </a:rPr>
              <a:t>User task</a:t>
            </a:r>
            <a:endParaRPr sz="1400" b="1" i="0">
              <a:solidFill>
                <a:srgbClr val="1D2F82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Text / voice: “thing used by human as a transport”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2011680" cy="123444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173736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D2F82"/>
                </a:solidFill>
                <a:latin typeface="Calibri" panose="020F0502020204030204"/>
              </a:rPr>
              <a:t>Robot camera</a:t>
            </a:r>
            <a:endParaRPr sz="1400" b="1" i="0">
              <a:solidFill>
                <a:srgbClr val="1D2F82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RGB frame (JPEG) of the scene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971800" y="1188720"/>
            <a:ext cx="589788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D2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154680" y="126187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1D2F82"/>
                </a:solidFill>
                <a:latin typeface="Calibri" panose="020F0502020204030204"/>
              </a:rPr>
              <a:t>PYNQ-Z2  ·  Zynq XC7Z020 SoC</a:t>
            </a:r>
            <a:endParaRPr sz="14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154680" y="169164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91840" y="1783080"/>
            <a:ext cx="2331720" cy="2194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D2F82"/>
                </a:solidFill>
                <a:latin typeface="Calibri" panose="020F0502020204030204"/>
              </a:rPr>
              <a:t>PL (FPGA fabric)</a:t>
            </a:r>
            <a:endParaRPr sz="1400" b="1" i="0">
              <a:solidFill>
                <a:srgbClr val="1D2F82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Tiny YOLOv2 INT8 overlay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Convolution MACs → DSP48E1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Feature-map line buffers → BRAM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Leaky ReLU / bias → LUT logic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Output: class, conf, bbox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80760" y="169164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E6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2331720" cy="2194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E7C86"/>
                </a:solidFill>
                <a:latin typeface="Calibri" panose="020F0502020204030204"/>
              </a:rPr>
              <a:t>PS (ARM Cortex-A9)</a:t>
            </a:r>
            <a:endParaRPr sz="1400" b="1" i="0">
              <a:solidFill>
                <a:srgbClr val="0E7C86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filter_detections()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CLIP text encoder (512-d)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Cosine similarity ranking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Score fusion + argmax select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orchestrator.py (Python)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779008" y="2743200"/>
            <a:ext cx="274320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54680" y="4297680"/>
            <a:ext cx="5532120" cy="1143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291840" y="4389120"/>
            <a:ext cx="525780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95959"/>
                </a:solidFill>
                <a:latin typeface="Calibri" panose="020F0502020204030204"/>
              </a:rPr>
              <a:t>Shared DDR3 (512 MB) + AXI DMA / VDMA</a:t>
            </a:r>
            <a:endParaRPr sz="1300" b="1" i="0">
              <a:solidFill>
                <a:srgbClr val="595959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Frames and weights in DDR3; zero-copy buffers (pynq.allocate) move data between PL and PS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2624328" y="1947672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2624328" y="3547872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933688" y="1947672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81160" y="1463040"/>
            <a:ext cx="2377440" cy="164592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418320" y="1554480"/>
            <a:ext cx="2103120" cy="1463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96C1E"/>
                </a:solidFill>
                <a:latin typeface="Calibri" panose="020F0502020204030204"/>
              </a:rPr>
              <a:t>Selected target (JSON)</a:t>
            </a:r>
            <a:endParaRPr sz="1400" b="1" i="0">
              <a:solidFill>
                <a:srgbClr val="D96C1E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object: horse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confidence: 0.98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score: 0.859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bbox: [x1, y1, x2, y2]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23" name="Down Arrow 22"/>
          <p:cNvSpPr/>
          <p:nvPr/>
        </p:nvSpPr>
        <p:spPr>
          <a:xfrm>
            <a:off x="10332720" y="3200400"/>
            <a:ext cx="274320" cy="27432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81160" y="3566160"/>
            <a:ext cx="2377440" cy="1874519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418320" y="3657600"/>
            <a:ext cx="2103120" cy="169163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D96C1E"/>
                </a:solidFill>
                <a:latin typeface="Calibri" panose="020F0502020204030204"/>
              </a:rPr>
              <a:t>Assistive robot</a:t>
            </a:r>
            <a:r>
              <a:rPr lang="en-IN" sz="1400" b="1" i="0">
                <a:solidFill>
                  <a:srgbClr val="D96C1E"/>
                </a:solidFill>
                <a:latin typeface="Calibri" panose="020F0502020204030204"/>
              </a:rPr>
              <a:t>ics</a:t>
            </a:r>
            <a:endParaRPr sz="1400" b="1" i="0">
              <a:solidFill>
                <a:srgbClr val="D96C1E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Annotated frame / HDMI overlay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Bbox centre → navigation or grasp target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 panose="020F0502020204030204"/>
              </a:rPr>
              <a:t>Perception (compute-heavy) stays in programmable logic; task reasoning (flexible, language-driven) stays in software on the processor.</a:t>
            </a:r>
            <a:endParaRPr sz="1200" b="0" i="1">
              <a:solidFill>
                <a:srgbClr val="59595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Details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5760720" cy="4937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400" b="1" dirty="0">
                <a:solidFill>
                  <a:srgbClr val="1D2F82"/>
                </a:solidFill>
                <a:latin typeface="Calibri" panose="020F0502020204030204"/>
              </a:rPr>
              <a:t>Modules developed and integrated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/>
              </a:rPr>
              <a:t>Detection: </a:t>
            </a: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Tiny YOLOv2 on PYNQ-Z2 returns class, confidence and bbox per object.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/>
              </a:rPr>
              <a:t>Filtering: </a:t>
            </a: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filter_detections() screens raw boxes (100 / 100 passed in the test run).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/>
              </a:rPr>
              <a:t>Semantic encoder: </a:t>
            </a: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CLIP text encoder gives 512-d vectors for object labels and the task sentence.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/>
              </a:rPr>
              <a:t>Ranking &amp; selection: </a:t>
            </a: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each detection scored; highest-scoring object selected.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/>
              </a:rPr>
              <a:t>Output: </a:t>
            </a: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final_model2_output.json + annotated image, exported to host over SSH/SCP.</a:t>
            </a:r>
            <a:endParaRPr lang="en-US" sz="1600" dirty="0"/>
          </a:p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400" b="1" dirty="0">
                <a:solidFill>
                  <a:srgbClr val="1D2F82"/>
                </a:solidFill>
                <a:latin typeface="Calibri" panose="020F0502020204030204"/>
              </a:rPr>
              <a:t>Algorithms implemented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Non-maximum suppression on YOLO outputs.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Cosine similarity:  sim = (a · b) / (‖a‖ ‖b‖).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Score fusion of detection confidence (base_score), label–task cos_sim and image–text image_cos_sim; argmax selection.</a:t>
            </a:r>
            <a:endParaRPr lang="en-US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6629400" y="1280160"/>
            <a:ext cx="5029200" cy="3749039"/>
          </a:xfrm>
          <a:prstGeom prst="roundRect">
            <a:avLst>
              <a:gd name="adj" fmla="val 3000"/>
            </a:avLst>
          </a:prstGeom>
          <a:solidFill>
            <a:srgbClr val="1F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12280" y="1417320"/>
            <a:ext cx="4709160" cy="4206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 i="0">
                <a:solidFill>
                  <a:srgbClr val="9AD1A5"/>
                </a:solidFill>
                <a:latin typeface="Courier New" panose="02070309020205020404"/>
              </a:rPr>
              <a:t># orchestrator.py  (runs on PYNQ-Z2, ARM PS)</a:t>
            </a:r>
            <a:endParaRPr sz="1150" b="0" i="0">
              <a:solidFill>
                <a:srgbClr val="9AD1A5"/>
              </a:solidFill>
              <a:latin typeface="Courier New" panose="02070309020205020404"/>
            </a:endParaRPr>
          </a:p>
          <a:p>
            <a:pPr algn="l"/>
            <a:r>
              <a:rPr sz="1150" b="0" i="0">
                <a:solidFill>
                  <a:srgbClr val="E8EAF0"/>
                </a:solidFill>
                <a:latin typeface="Courier New" panose="02070309020205020404"/>
              </a:rPr>
              <a:t>img  = load_image(image_path)</a:t>
            </a:r>
            <a:endParaRPr sz="1150" b="0" i="0">
              <a:solidFill>
                <a:srgbClr val="E8EAF0"/>
              </a:solidFill>
              <a:latin typeface="Courier New" panose="02070309020205020404"/>
            </a:endParaRPr>
          </a:p>
          <a:p>
            <a:pPr algn="l"/>
            <a:r>
              <a:rPr sz="1150" b="0" i="0">
                <a:solidFill>
                  <a:srgbClr val="E8EAF0"/>
                </a:solidFill>
                <a:latin typeface="Courier New" panose="02070309020205020404"/>
              </a:rPr>
              <a:t>task = input("Enter text-based task input: ")</a:t>
            </a:r>
            <a:endParaRPr sz="1150" b="0" i="0">
              <a:solidFill>
                <a:srgbClr val="E8EAF0"/>
              </a:solidFill>
              <a:latin typeface="Courier New" panose="02070309020205020404"/>
            </a:endParaRPr>
          </a:p>
          <a:p>
            <a:pPr algn="l"/>
            <a:r>
              <a:rPr sz="1150" b="0" i="0">
                <a:solidFill>
                  <a:srgbClr val="E8EAF0"/>
                </a:solidFill>
                <a:latin typeface="Courier New" panose="02070309020205020404"/>
              </a:rPr>
              <a:t> </a:t>
            </a:r>
            <a:endParaRPr sz="1150" b="0" i="0">
              <a:solidFill>
                <a:srgbClr val="E8EAF0"/>
              </a:solidFill>
              <a:latin typeface="Courier New" panose="02070309020205020404"/>
            </a:endParaRPr>
          </a:p>
          <a:p>
            <a:pPr algn="l"/>
            <a:r>
              <a:rPr sz="1150" b="0" i="0">
                <a:solidFill>
                  <a:srgbClr val="E8EAF0"/>
                </a:solidFill>
                <a:latin typeface="Courier New" panose="02070309020205020404"/>
              </a:rPr>
              <a:t>dets = yolo_detect(img)          # Tiny YOLOv2</a:t>
            </a:r>
            <a:endParaRPr sz="1150" b="0" i="0">
              <a:solidFill>
                <a:srgbClr val="E8EAF0"/>
              </a:solidFill>
              <a:latin typeface="Courier New" panose="02070309020205020404"/>
            </a:endParaRPr>
          </a:p>
          <a:p>
            <a:pPr algn="l"/>
            <a:r>
              <a:rPr sz="1150" b="0" i="0">
                <a:solidFill>
                  <a:srgbClr val="E8EAF0"/>
                </a:solidFill>
                <a:latin typeface="Courier New" panose="02070309020205020404"/>
              </a:rPr>
              <a:t>dets = filter_detections(dets)</a:t>
            </a:r>
            <a:endParaRPr sz="1150" b="0" i="0">
              <a:solidFill>
                <a:srgbClr val="E8EAF0"/>
              </a:solidFill>
              <a:latin typeface="Courier New" panose="02070309020205020404"/>
            </a:endParaRPr>
          </a:p>
          <a:p>
            <a:pPr algn="l"/>
            <a:r>
              <a:rPr sz="1150" b="0" i="0">
                <a:solidFill>
                  <a:srgbClr val="E8EAF0"/>
                </a:solidFill>
                <a:latin typeface="Courier New" panose="02070309020205020404"/>
              </a:rPr>
              <a:t>L = encode_object_labels(dets)   # (N, 512)</a:t>
            </a:r>
            <a:endParaRPr sz="1150" b="0" i="0">
              <a:solidFill>
                <a:srgbClr val="E8EAF0"/>
              </a:solidFill>
              <a:latin typeface="Courier New" panose="02070309020205020404"/>
            </a:endParaRPr>
          </a:p>
          <a:p>
            <a:pPr algn="l"/>
            <a:r>
              <a:rPr sz="1150" b="0" i="0">
                <a:solidFill>
                  <a:srgbClr val="E8EAF0"/>
                </a:solidFill>
                <a:latin typeface="Courier New" panose="02070309020205020404"/>
              </a:rPr>
              <a:t>t = encode_task_text(task)       # (1, 512)</a:t>
            </a:r>
            <a:endParaRPr sz="1150" b="0" i="0">
              <a:solidFill>
                <a:srgbClr val="E8EAF0"/>
              </a:solidFill>
              <a:latin typeface="Courier New" panose="02070309020205020404"/>
            </a:endParaRPr>
          </a:p>
          <a:p>
            <a:pPr algn="l"/>
            <a:r>
              <a:rPr sz="1150" b="0" i="0">
                <a:solidFill>
                  <a:srgbClr val="E8EAF0"/>
                </a:solidFill>
                <a:latin typeface="Courier New" panose="02070309020205020404"/>
              </a:rPr>
              <a:t> </a:t>
            </a:r>
            <a:endParaRPr sz="1150" b="0" i="0">
              <a:solidFill>
                <a:srgbClr val="E8EAF0"/>
              </a:solidFill>
              <a:latin typeface="Courier New" panose="02070309020205020404"/>
            </a:endParaRPr>
          </a:p>
          <a:p>
            <a:pPr algn="l"/>
            <a:r>
              <a:rPr sz="1150" b="0" i="0">
                <a:solidFill>
                  <a:srgbClr val="E8EAF0"/>
                </a:solidFill>
                <a:latin typeface="Courier New" panose="02070309020205020404"/>
              </a:rPr>
              <a:t>for d in dets:</a:t>
            </a:r>
            <a:endParaRPr sz="1150" b="0" i="0">
              <a:solidFill>
                <a:srgbClr val="E8EAF0"/>
              </a:solidFill>
              <a:latin typeface="Courier New" panose="02070309020205020404"/>
            </a:endParaRPr>
          </a:p>
          <a:p>
            <a:pPr algn="l"/>
            <a:r>
              <a:rPr sz="1150" b="0" i="0">
                <a:solidFill>
                  <a:srgbClr val="E8EAF0"/>
                </a:solidFill>
                <a:latin typeface="Courier New" panose="02070309020205020404"/>
              </a:rPr>
              <a:t>    d.cos_sim = cosine(L[d], t)</a:t>
            </a:r>
            <a:endParaRPr sz="1150" b="0" i="0">
              <a:solidFill>
                <a:srgbClr val="E8EAF0"/>
              </a:solidFill>
              <a:latin typeface="Courier New" panose="02070309020205020404"/>
            </a:endParaRPr>
          </a:p>
          <a:p>
            <a:pPr algn="l"/>
            <a:r>
              <a:rPr sz="1150" b="0" i="0">
                <a:solidFill>
                  <a:srgbClr val="E8EAF0"/>
                </a:solidFill>
                <a:latin typeface="Courier New" panose="02070309020205020404"/>
              </a:rPr>
              <a:t>    d.score = fuse(d.base_score,</a:t>
            </a:r>
            <a:endParaRPr sz="1150" b="0" i="0">
              <a:solidFill>
                <a:srgbClr val="E8EAF0"/>
              </a:solidFill>
              <a:latin typeface="Courier New" panose="02070309020205020404"/>
            </a:endParaRPr>
          </a:p>
          <a:p>
            <a:pPr algn="l"/>
            <a:r>
              <a:rPr sz="1150" b="0" i="0">
                <a:solidFill>
                  <a:srgbClr val="E8EAF0"/>
                </a:solidFill>
                <a:latin typeface="Courier New" panose="02070309020205020404"/>
              </a:rPr>
              <a:t>                   d.cos_sim, d.image_cos_sim)</a:t>
            </a:r>
            <a:endParaRPr sz="1150" b="0" i="0">
              <a:solidFill>
                <a:srgbClr val="E8EAF0"/>
              </a:solidFill>
              <a:latin typeface="Courier New" panose="02070309020205020404"/>
            </a:endParaRPr>
          </a:p>
          <a:p>
            <a:pPr algn="l"/>
            <a:r>
              <a:rPr sz="1150" b="0" i="0">
                <a:solidFill>
                  <a:srgbClr val="E8EAF0"/>
                </a:solidFill>
                <a:latin typeface="Courier New" panose="02070309020205020404"/>
              </a:rPr>
              <a:t> </a:t>
            </a:r>
            <a:endParaRPr sz="1150" b="0" i="0">
              <a:solidFill>
                <a:srgbClr val="E8EAF0"/>
              </a:solidFill>
              <a:latin typeface="Courier New" panose="02070309020205020404"/>
            </a:endParaRPr>
          </a:p>
          <a:p>
            <a:pPr algn="l"/>
            <a:r>
              <a:rPr sz="1150" b="0" i="0">
                <a:solidFill>
                  <a:srgbClr val="E8EAF0"/>
                </a:solidFill>
                <a:latin typeface="Courier New" panose="02070309020205020404"/>
              </a:rPr>
              <a:t>best = max(dets, key=lambda d: d.score)</a:t>
            </a:r>
            <a:endParaRPr sz="1150" b="0" i="0">
              <a:solidFill>
                <a:srgbClr val="E8EAF0"/>
              </a:solidFill>
              <a:latin typeface="Courier New" panose="02070309020205020404"/>
            </a:endParaRPr>
          </a:p>
          <a:p>
            <a:pPr algn="l"/>
            <a:r>
              <a:rPr sz="1150" b="0" i="0">
                <a:solidFill>
                  <a:srgbClr val="E8EAF0"/>
                </a:solidFill>
                <a:latin typeface="Courier New" panose="02070309020205020404"/>
              </a:rPr>
              <a:t>save_json(best); draw_bbox(img, best)</a:t>
            </a:r>
            <a:endParaRPr sz="1150" b="0" i="0">
              <a:solidFill>
                <a:srgbClr val="E8EAF0"/>
              </a:solidFill>
              <a:latin typeface="Courier New" panose="020703090202050204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29400" y="5120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 panose="020F0502020204030204"/>
              </a:rPr>
              <a:t>Simplified flow of the pipeline script (pseudo-code)</a:t>
            </a:r>
            <a:endParaRPr sz="1100" b="0" i="1">
              <a:solidFill>
                <a:srgbClr val="59595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Analysis (75%)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14300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 i="0">
                <a:solidFill>
                  <a:srgbClr val="1D2F82"/>
                </a:solidFill>
                <a:latin typeface="Calibri" panose="020F0502020204030204"/>
              </a:rPr>
              <a:t>End-to-end run on the PYNQ-Z2 board</a:t>
            </a:r>
            <a:endParaRPr sz="1600" b="1" i="0">
              <a:solidFill>
                <a:srgbClr val="1D2F82"/>
              </a:solidFill>
              <a:latin typeface="Calibri" panose="020F0502020204030204"/>
            </a:endParaRP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858000" cy="289987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63440"/>
            <a:ext cx="6858000" cy="117540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85216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 panose="020F0502020204030204"/>
              </a:rPr>
              <a:t>Top: orchestrator.py on the board (xilinx@pynq).  Bottom: JSON and annotated frame copied to the host over SCP.</a:t>
            </a:r>
            <a:endParaRPr sz="1100" b="0" i="1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818120" y="1188720"/>
            <a:ext cx="3840480" cy="105156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01000" y="1234440"/>
            <a:ext cx="356616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D96C1E"/>
                </a:solidFill>
                <a:latin typeface="Calibri" panose="020F0502020204030204"/>
              </a:rPr>
              <a:t>horse</a:t>
            </a:r>
            <a:endParaRPr sz="3000" b="1" i="0">
              <a:solidFill>
                <a:srgbClr val="D96C1E"/>
              </a:solidFill>
              <a:latin typeface="Calibri" panose="020F0502020204030204"/>
            </a:endParaRPr>
          </a:p>
          <a:p>
            <a:pPr algn="l"/>
            <a:r>
              <a:rPr sz="1200" b="0" i="0">
                <a:solidFill>
                  <a:srgbClr val="595959"/>
                </a:solidFill>
                <a:latin typeface="Calibri" panose="020F0502020204030204"/>
              </a:rPr>
              <a:t>Selected object</a:t>
            </a:r>
            <a:endParaRPr sz="1200" b="0" i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818120" y="2377440"/>
            <a:ext cx="3840480" cy="105156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01000" y="2423160"/>
            <a:ext cx="356616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1D2F82"/>
                </a:solidFill>
                <a:latin typeface="Calibri" panose="020F0502020204030204"/>
              </a:rPr>
              <a:t>0.980</a:t>
            </a:r>
            <a:endParaRPr sz="3000" b="1" i="0">
              <a:solidFill>
                <a:srgbClr val="1D2F82"/>
              </a:solidFill>
              <a:latin typeface="Calibri" panose="020F0502020204030204"/>
            </a:endParaRPr>
          </a:p>
          <a:p>
            <a:pPr algn="l"/>
            <a:r>
              <a:rPr sz="1200" b="0" i="0">
                <a:solidFill>
                  <a:srgbClr val="595959"/>
                </a:solidFill>
                <a:latin typeface="Calibri" panose="020F0502020204030204"/>
              </a:rPr>
              <a:t>Detection confidence</a:t>
            </a:r>
            <a:endParaRPr sz="1200" b="0" i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818120" y="3566160"/>
            <a:ext cx="3840480" cy="1051560"/>
          </a:xfrm>
          <a:prstGeom prst="roundRect">
            <a:avLst>
              <a:gd name="adj" fmla="val 6000"/>
            </a:avLst>
          </a:prstGeom>
          <a:solidFill>
            <a:srgbClr val="E6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01000" y="3611880"/>
            <a:ext cx="356616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0E7C86"/>
                </a:solidFill>
                <a:latin typeface="Calibri" panose="020F0502020204030204"/>
              </a:rPr>
              <a:t>0.859</a:t>
            </a:r>
            <a:endParaRPr sz="3000" b="1" i="0">
              <a:solidFill>
                <a:srgbClr val="0E7C86"/>
              </a:solidFill>
              <a:latin typeface="Calibri" panose="020F0502020204030204"/>
            </a:endParaRPr>
          </a:p>
          <a:p>
            <a:pPr algn="l"/>
            <a:r>
              <a:rPr sz="1200" b="0" i="0">
                <a:solidFill>
                  <a:srgbClr val="595959"/>
                </a:solidFill>
                <a:latin typeface="Calibri" panose="020F0502020204030204"/>
              </a:rPr>
              <a:t>Final task score</a:t>
            </a:r>
            <a:endParaRPr sz="1200" b="0" i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818120" y="4754880"/>
            <a:ext cx="3840480" cy="105156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01000" y="4800600"/>
            <a:ext cx="356616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3000" b="1" i="0">
                <a:solidFill>
                  <a:srgbClr val="1D2F82"/>
                </a:solidFill>
                <a:latin typeface="Calibri" panose="020F0502020204030204"/>
              </a:rPr>
              <a:t>100 / 100</a:t>
            </a:r>
            <a:endParaRPr sz="3000" b="1" i="0">
              <a:solidFill>
                <a:srgbClr val="1D2F82"/>
              </a:solidFill>
              <a:latin typeface="Calibri" panose="020F0502020204030204"/>
            </a:endParaRPr>
          </a:p>
          <a:p>
            <a:pPr algn="l"/>
            <a:r>
              <a:rPr sz="1200" b="0" i="0">
                <a:solidFill>
                  <a:srgbClr val="595959"/>
                </a:solidFill>
                <a:latin typeface="Calibri" panose="020F0502020204030204"/>
              </a:rPr>
              <a:t>Detections passed filtering</a:t>
            </a:r>
            <a:endParaRPr sz="1200" b="0" i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18120" y="59436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 panose="020F0502020204030204"/>
              </a:rPr>
              <a:t>Task: “thing used by human as a transport”</a:t>
            </a:r>
            <a:endParaRPr sz="1100" b="0" i="1">
              <a:solidFill>
                <a:srgbClr val="59595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Analysis (contd.): Input, Output and Ranking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5204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 panose="020F0502020204030204"/>
              </a:rPr>
              <a:t>Input frame (000000001459.jpg)</a:t>
            </a:r>
            <a:endParaRPr sz="1100" b="0" i="1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 panose="020F0502020204030204"/>
              </a:rPr>
              <a:t>Output frame with selected-object overlay</a:t>
            </a:r>
            <a:endParaRPr sz="1100" b="0" i="1">
              <a:solidFill>
                <a:srgbClr val="595959"/>
              </a:solidFill>
              <a:latin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92040" y="1234440"/>
          <a:ext cx="67665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34440"/>
                <a:gridCol w="1234440"/>
                <a:gridCol w="1234440"/>
                <a:gridCol w="12344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Candidate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Det. conf.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Base score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Image cos-sim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Final score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1D2F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horse (selected)</a:t>
                      </a:r>
                      <a:endParaRPr sz="1200" b="1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0.980</a:t>
                      </a:r>
                      <a:endParaRPr sz="1200" b="1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0.994</a:t>
                      </a:r>
                      <a:endParaRPr sz="1200" b="1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0.218</a:t>
                      </a:r>
                      <a:endParaRPr sz="1200" b="1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D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0.859</a:t>
                      </a:r>
                      <a:endParaRPr sz="1200" b="1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DF1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horse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0.907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0.972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0.223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0.846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EEF1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bicycle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0.851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0.955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0.188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0.829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92040" y="274320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 panose="020F0502020204030204"/>
              </a:rPr>
              <a:t>Top candidates from the ranking stage of final_model2_output.json</a:t>
            </a:r>
            <a:endParaRPr sz="1100" b="0" i="1">
              <a:solidFill>
                <a:srgbClr val="595959"/>
              </a:solidFill>
              <a:latin typeface="Calibri" panose="020F0502020204030204"/>
            </a:endParaRPr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154680"/>
            <a:ext cx="2709223" cy="292608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818120" y="3154680"/>
            <a:ext cx="3840480" cy="297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sz="1500" b="1" i="0" dirty="0">
                <a:solidFill>
                  <a:srgbClr val="1D2F82"/>
                </a:solidFill>
                <a:latin typeface="Calibri" panose="020F0502020204030204"/>
              </a:rPr>
              <a:t>Analysis</a:t>
            </a:r>
            <a:endParaRPr sz="1500" b="1" i="0" dirty="0">
              <a:solidFill>
                <a:srgbClr val="1D2F82"/>
              </a:solidFill>
              <a:latin typeface="Calibri" panose="020F0502020204030204"/>
            </a:endParaRPr>
          </a:p>
          <a:p>
            <a:pPr marL="182880" indent="-164465" algn="l">
              <a:spcAft>
                <a:spcPts val="400"/>
              </a:spcAft>
              <a:buChar char="•"/>
            </a:pPr>
            <a:r>
              <a:rPr sz="1200" b="0" i="0" dirty="0">
                <a:solidFill>
                  <a:srgbClr val="1A1A1A"/>
                </a:solidFill>
                <a:latin typeface="Calibri" panose="020F0502020204030204"/>
              </a:rPr>
              <a:t>Both horse boxes share the same label-to-task similarity (cos_sim ≈ 1.0), so the image–text term and detection confidence decide the winner.</a:t>
            </a:r>
            <a:endParaRPr sz="1200" b="0" i="0" dirty="0">
              <a:solidFill>
                <a:srgbClr val="1A1A1A"/>
              </a:solidFill>
              <a:latin typeface="Calibri" panose="020F0502020204030204"/>
            </a:endParaRPr>
          </a:p>
          <a:p>
            <a:pPr marL="182880" indent="-164465" algn="l">
              <a:spcAft>
                <a:spcPts val="400"/>
              </a:spcAft>
              <a:buChar char="•"/>
            </a:pPr>
            <a:r>
              <a:rPr sz="1200" b="0" i="0" dirty="0">
                <a:solidFill>
                  <a:srgbClr val="1A1A1A"/>
                </a:solidFill>
                <a:latin typeface="Calibri" panose="020F0502020204030204"/>
              </a:rPr>
              <a:t>The selected horse leads bicycle by 0.030 in final score, a clear margin for the robot’s choice.</a:t>
            </a:r>
            <a:endParaRPr sz="1200" b="0" i="0" dirty="0">
              <a:solidFill>
                <a:srgbClr val="1A1A1A"/>
              </a:solidFill>
              <a:latin typeface="Calibri" panose="020F0502020204030204"/>
            </a:endParaRPr>
          </a:p>
          <a:p>
            <a:pPr marL="182880" indent="-164465" algn="l">
              <a:buChar char="•"/>
            </a:pPr>
            <a:r>
              <a:rPr sz="1200" b="0" i="0" dirty="0">
                <a:solidFill>
                  <a:srgbClr val="1A1A1A"/>
                </a:solidFill>
                <a:latin typeface="Calibri" panose="020F0502020204030204"/>
              </a:rPr>
              <a:t>Scores sit in a narrow 0.83–0.86 band, so a confidence threshold is needed before acting.</a:t>
            </a:r>
            <a:endParaRPr sz="1200" b="0" i="0" dirty="0">
              <a:solidFill>
                <a:srgbClr val="1A1A1A"/>
              </a:solidFill>
              <a:latin typeface="Calibri" panose="020F0502020204030204"/>
            </a:endParaRPr>
          </a:p>
        </p:txBody>
      </p:sp>
      <p:pic>
        <p:nvPicPr>
          <p:cNvPr id="13" name="Picture 12" descr="demo_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33" y="1234440"/>
            <a:ext cx="3982721" cy="224028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14" name="Picture 13" descr="demo_ou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80687"/>
            <a:ext cx="4012197" cy="2254353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(contd.): Assistive-Robotics Demo Scene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demo_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257800" cy="295751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6" name="Picture 5" descr="demo_ou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5257800" cy="295422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Right Arrow 6"/>
          <p:cNvSpPr/>
          <p:nvPr/>
        </p:nvSpPr>
        <p:spPr>
          <a:xfrm>
            <a:off x="5943600" y="2606040"/>
            <a:ext cx="320040" cy="32004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 panose="020F0502020204030204"/>
              </a:rPr>
              <a:t>Input: robot’s view of a desk scene</a:t>
            </a:r>
            <a:endParaRPr sz="12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4297680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 panose="020F0502020204030204"/>
              </a:rPr>
              <a:t>Output: horse  |  conf = 0.980  |  score = 0.859</a:t>
            </a:r>
            <a:endParaRPr sz="12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75488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E6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484632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E7C86"/>
                </a:solidFill>
                <a:latin typeface="Calibri" panose="020F0502020204030204"/>
              </a:rPr>
              <a:t>Task</a:t>
            </a:r>
            <a:endParaRPr sz="1300" b="1" i="0">
              <a:solidFill>
                <a:srgbClr val="0E7C86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“thing used by human as a transport”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3172968" y="5093208"/>
            <a:ext cx="182880" cy="25603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475488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E6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0440" y="484632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E7C86"/>
                </a:solidFill>
                <a:latin typeface="Calibri" panose="020F0502020204030204"/>
              </a:rPr>
              <a:t>Selected</a:t>
            </a:r>
            <a:endParaRPr sz="1300" b="1" i="0">
              <a:solidFill>
                <a:srgbClr val="0E7C86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horse, conf 0.980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6007608" y="5093208"/>
            <a:ext cx="182880" cy="25603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475488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E6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484632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E7C86"/>
                </a:solidFill>
                <a:latin typeface="Calibri" panose="020F0502020204030204"/>
              </a:rPr>
              <a:t>Target</a:t>
            </a:r>
            <a:endParaRPr sz="1300" b="1" i="0">
              <a:solidFill>
                <a:srgbClr val="0E7C86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bbox → centre (x, y)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8842248" y="5093208"/>
            <a:ext cx="182880" cy="256032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52560" y="4754880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89720" y="484632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96C1E"/>
                </a:solidFill>
                <a:latin typeface="Calibri" panose="020F0502020204030204"/>
              </a:rPr>
              <a:t>Robot</a:t>
            </a:r>
            <a:endParaRPr sz="1300" b="1" i="0">
              <a:solidFill>
                <a:srgbClr val="D96C1E"/>
              </a:solidFill>
              <a:latin typeface="Calibri" panose="020F0502020204030204"/>
            </a:endParaRP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Calibri" panose="020F0502020204030204"/>
              </a:rPr>
              <a:t>navigate / point / grasp</a:t>
            </a:r>
            <a:endParaRPr sz="11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 panose="020F0502020204030204"/>
              </a:rPr>
              <a:t>Demo frame prepared to visualise the pipeline output for the assistive-robotics use-case.</a:t>
            </a:r>
            <a:endParaRPr sz="1000" b="0" i="1">
              <a:solidFill>
                <a:srgbClr val="59595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(contd.): Household Task Queries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6309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097280"/>
                <a:gridCol w="1097280"/>
              </a:tblGrid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Task given to robot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Selected object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Conf.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Score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1D2F82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Object used to serve wine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Wine glass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0.914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0.807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Beer bottle open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Bottle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0.877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0.813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EEF1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Item to smear butter on bread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Knife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0.905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0.765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Substance which contains sugar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Cup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0.869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0.774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EEF1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I want to sit in a relaxed manner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Toilet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0.875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0.763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Something placed on the carpet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Couch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0.932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0.753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EEF1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Object used to control fire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Fire hydrant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0.879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0.763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Thing used by human as a transport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Horse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0.980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0.859</a:t>
                      </a:r>
                      <a:endParaRPr sz="1200" b="0" i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marT="27432" marB="27432" anchor="ctr"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132320" y="1188720"/>
          <a:ext cx="45262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1D2F82"/>
                </a:solidFill>
                <a:latin typeface="Calibri" panose="020F0502020204030204"/>
              </a:rPr>
              <a:t>Across all 15 test queries: mean final score 0.755, mean confidence 0.794. </a:t>
            </a:r>
            <a:r>
              <a:rPr sz="1200" b="0" i="0">
                <a:solidFill>
                  <a:srgbClr val="1A1A1A"/>
                </a:solidFill>
                <a:latin typeface="Calibri" panose="020F0502020204030204"/>
              </a:rPr>
              <a:t>Debatable picks (e.g. “sit in a relaxed manner” → toilet rather than couch) show the next step: a household-specific evaluation set with top-1 accuracy.</a:t>
            </a:r>
            <a:endParaRPr sz="1200" b="0" i="0">
              <a:solidFill>
                <a:srgbClr val="1A1A1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&amp; Remaining Work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6400800" cy="4937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400" b="1" dirty="0">
                <a:solidFill>
                  <a:srgbClr val="1D2F82"/>
                </a:solidFill>
                <a:latin typeface="Calibri" panose="020F0502020204030204"/>
              </a:rPr>
              <a:t>Challenges faced and solutions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/>
              </a:rPr>
              <a:t>Same-class candidates tie on label similarity </a:t>
            </a: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(cos_sim ≈ 1.0) → added image–text similarity and detection confidence to the final score.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/>
              </a:rPr>
              <a:t>Many raw YOLO boxes per frame </a:t>
            </a: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→ filtering + NMS stage before CLIP ranking.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/>
              </a:rPr>
              <a:t>Detector errors pass straight to ranking </a:t>
            </a: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→ plan a minimum-confidence gate before the robot acts.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/>
              </a:rPr>
              <a:t>CLIP is heavy for the Cortex-A9 </a:t>
            </a: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→ text encoder only; label embeddings to be cached / quantised.</a:t>
            </a:r>
            <a:endParaRPr lang="en-US" sz="1600" dirty="0"/>
          </a:p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400" b="1" dirty="0">
                <a:solidFill>
                  <a:srgbClr val="1D2F82"/>
                </a:solidFill>
                <a:latin typeface="Calibri" panose="020F0502020204030204"/>
              </a:rPr>
              <a:t>Remaining work (25%)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Live camera input via AXI VDMA and HDMI overlay.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Benchmark FPS, latency, power and LUT / DSP / BRAM utilisation.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Household task test set (COCO-Tasks style) with top-1 accuracy.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anose="020F0502020204030204"/>
              </a:rPr>
              <a:t>Send selected target (bbox centre) to a robot controller demo.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7406640" y="12344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1D2F82"/>
                </a:solidFill>
                <a:latin typeface="Calibri" panose="020F0502020204030204"/>
              </a:rPr>
              <a:t>Timeline to Review-III (28.10.2026)</a:t>
            </a:r>
            <a:endParaRPr sz="15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06640" y="173736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589520" y="1810512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D2F82"/>
                </a:solidFill>
                <a:latin typeface="Calibri" panose="020F0502020204030204"/>
              </a:rPr>
              <a:t>1 – 7 Oct</a:t>
            </a:r>
            <a:endParaRPr sz="1300" b="1" i="0">
              <a:solidFill>
                <a:srgbClr val="1D2F82"/>
              </a:solidFill>
              <a:latin typeface="Calibri" panose="020F0502020204030204"/>
            </a:endParaRPr>
          </a:p>
          <a:p>
            <a:pPr algn="l"/>
            <a:r>
              <a:rPr sz="1200" b="0" i="0">
                <a:solidFill>
                  <a:srgbClr val="1A1A1A"/>
                </a:solidFill>
                <a:latin typeface="Calibri" panose="020F0502020204030204"/>
              </a:rPr>
              <a:t>Live camera + VDMA streaming</a:t>
            </a:r>
            <a:endParaRPr sz="12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06640" y="2834639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89520" y="2907791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D2F82"/>
                </a:solidFill>
                <a:latin typeface="Calibri" panose="020F0502020204030204"/>
              </a:rPr>
              <a:t>8 – 14 Oct</a:t>
            </a:r>
            <a:endParaRPr sz="1300" b="1" i="0">
              <a:solidFill>
                <a:srgbClr val="1D2F82"/>
              </a:solidFill>
              <a:latin typeface="Calibri" panose="020F0502020204030204"/>
            </a:endParaRPr>
          </a:p>
          <a:p>
            <a:pPr algn="l"/>
            <a:r>
              <a:rPr sz="1200" b="0" i="0">
                <a:solidFill>
                  <a:srgbClr val="1A1A1A"/>
                </a:solidFill>
                <a:latin typeface="Calibri" panose="020F0502020204030204"/>
              </a:rPr>
              <a:t>FPS, latency, power, resource benchmarks</a:t>
            </a:r>
            <a:endParaRPr sz="12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06640" y="393192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589520" y="4005072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D2F82"/>
                </a:solidFill>
                <a:latin typeface="Calibri" panose="020F0502020204030204"/>
              </a:rPr>
              <a:t>15 – 21 Oct</a:t>
            </a:r>
            <a:endParaRPr sz="1300" b="1" i="0">
              <a:solidFill>
                <a:srgbClr val="1D2F82"/>
              </a:solidFill>
              <a:latin typeface="Calibri" panose="020F0502020204030204"/>
            </a:endParaRPr>
          </a:p>
          <a:p>
            <a:pPr algn="l"/>
            <a:r>
              <a:rPr sz="1200" b="0" i="0">
                <a:solidFill>
                  <a:srgbClr val="1A1A1A"/>
                </a:solidFill>
                <a:latin typeface="Calibri" panose="020F0502020204030204"/>
              </a:rPr>
              <a:t>Household task test set &amp; accuracy</a:t>
            </a:r>
            <a:endParaRPr sz="12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06640" y="502920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89520" y="5102352"/>
            <a:ext cx="38404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D96C1E"/>
                </a:solidFill>
                <a:latin typeface="Calibri" panose="020F0502020204030204"/>
              </a:rPr>
              <a:t>22 – 28 Oct</a:t>
            </a:r>
            <a:endParaRPr sz="1300" b="1" i="0">
              <a:solidFill>
                <a:srgbClr val="D96C1E"/>
              </a:solidFill>
              <a:latin typeface="Calibri" panose="020F0502020204030204"/>
            </a:endParaRPr>
          </a:p>
          <a:p>
            <a:pPr algn="l"/>
            <a:r>
              <a:rPr sz="1200" b="0" i="0">
                <a:solidFill>
                  <a:srgbClr val="1A1A1A"/>
                </a:solidFill>
                <a:latin typeface="Calibri" panose="020F0502020204030204"/>
              </a:rPr>
              <a:t>Robot-interface demo, report, Review-III</a:t>
            </a:r>
            <a:endParaRPr sz="1200" b="0" i="0">
              <a:solidFill>
                <a:srgbClr val="1A1A1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 (1/2)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300" b="1" dirty="0">
                <a:solidFill>
                  <a:srgbClr val="1D2F82"/>
                </a:solidFill>
                <a:latin typeface="Calibri" panose="020F0502020204030204"/>
              </a:rPr>
              <a:t>[1]  </a:t>
            </a:r>
            <a:r>
              <a:rPr lang="en-US" sz="1300" dirty="0">
                <a:solidFill>
                  <a:srgbClr val="1A1A1A"/>
                </a:solidFill>
                <a:latin typeface="Calibri" panose="020F0502020204030204"/>
              </a:rPr>
              <a:t>J. Redmon, S. Divvala, R. Girshick, and A. Farhadi, “You Only Look Once: Unified, Real-Time Object Detection,” in Proc. IEEE CVPR, 2016, pp. 779–788.</a:t>
            </a:r>
            <a:endParaRPr lang="en-US" sz="1600" dirty="0"/>
          </a:p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300" b="1" dirty="0">
                <a:solidFill>
                  <a:srgbClr val="1D2F82"/>
                </a:solidFill>
                <a:latin typeface="Calibri" panose="020F0502020204030204"/>
              </a:rPr>
              <a:t>[2]  </a:t>
            </a:r>
            <a:r>
              <a:rPr lang="en-US" sz="1300" dirty="0">
                <a:solidFill>
                  <a:srgbClr val="1A1A1A"/>
                </a:solidFill>
                <a:latin typeface="Calibri" panose="020F0502020204030204"/>
              </a:rPr>
              <a:t>J. Redmon and A. Farhadi, “YOLO9000: Better, Faster, Stronger,” in Proc. IEEE CVPR, 2017, pp. 7263–7271.</a:t>
            </a:r>
            <a:endParaRPr lang="en-US" sz="1600" dirty="0"/>
          </a:p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300" b="1" dirty="0">
                <a:solidFill>
                  <a:srgbClr val="1D2F82"/>
                </a:solidFill>
                <a:latin typeface="Calibri" panose="020F0502020204030204"/>
              </a:rPr>
              <a:t>[3]  </a:t>
            </a:r>
            <a:r>
              <a:rPr lang="en-US" sz="1300" dirty="0">
                <a:solidFill>
                  <a:srgbClr val="1A1A1A"/>
                </a:solidFill>
                <a:latin typeface="Calibri" panose="020F0502020204030204"/>
              </a:rPr>
              <a:t>Z. Yan, B. Zhang, and D. Wang, “An FPGA-Based YOLOv5 Accelerator for Real-Time Industrial Vision Applications,” Micromachines, vol. 15, no. 9, Art. no. 1164, 2024, doi: 10.3390/mi15091164.</a:t>
            </a:r>
            <a:endParaRPr lang="en-US" sz="1600" dirty="0"/>
          </a:p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300" b="1" dirty="0">
                <a:solidFill>
                  <a:srgbClr val="1D2F82"/>
                </a:solidFill>
                <a:latin typeface="Calibri" panose="020F0502020204030204"/>
              </a:rPr>
              <a:t>[4]  </a:t>
            </a:r>
            <a:r>
              <a:rPr lang="en-US" sz="1300" dirty="0">
                <a:solidFill>
                  <a:srgbClr val="1A1A1A"/>
                </a:solidFill>
                <a:latin typeface="Calibri" panose="020F0502020204030204"/>
              </a:rPr>
              <a:t>E. Emmanuel, F. Lacy, and Y. Ismail, “Optimizing Resource Utilization and Power Efficiency in FPGA-Accelerated YOLOv8 Object Detection Using Vivado HLS,” in Proc. 2nd Int. Conf. AIBThings, 2024, pp. 1–4, doi: 10.1109/AIBThings.2024.10863546.</a:t>
            </a:r>
            <a:endParaRPr lang="en-US" sz="1600" dirty="0"/>
          </a:p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300" b="1" dirty="0">
                <a:solidFill>
                  <a:srgbClr val="1D2F82"/>
                </a:solidFill>
                <a:latin typeface="Calibri" panose="020F0502020204030204"/>
              </a:rPr>
              <a:t>[5]  </a:t>
            </a:r>
            <a:r>
              <a:rPr lang="en-US" sz="1300" dirty="0">
                <a:solidFill>
                  <a:srgbClr val="1A1A1A"/>
                </a:solidFill>
                <a:latin typeface="Calibri" panose="020F0502020204030204"/>
              </a:rPr>
              <a:t>X. Sha, M. Yanagisawa, and Y. Shi, “An FPGA-Based YOLOv6 Accelerator for High-Throughput and Energy-Efficient Object Detection,” IEICE Trans. Fundamentals, vol. E108-A, no. 3, pp. 473–481, 2025.</a:t>
            </a:r>
            <a:endParaRPr lang="en-US" sz="1600" dirty="0"/>
          </a:p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300" b="1" dirty="0">
                <a:solidFill>
                  <a:srgbClr val="1D2F82"/>
                </a:solidFill>
                <a:latin typeface="Calibri" panose="020F0502020204030204"/>
              </a:rPr>
              <a:t>[6]  </a:t>
            </a:r>
            <a:r>
              <a:rPr lang="en-US" sz="1300" dirty="0">
                <a:solidFill>
                  <a:srgbClr val="1A1A1A"/>
                </a:solidFill>
                <a:latin typeface="Calibri" panose="020F0502020204030204"/>
              </a:rPr>
              <a:t>Z. Zhang, M. A. P. Mahmud, and A. Z. Kouzani, “Resource-Constrained FPGA Implementation of YOLOv2,” Neural Comput. Appl., vol. 34, no. 19, pp. 16989–17006, 2022.</a:t>
            </a:r>
            <a:endParaRPr lang="en-US" sz="1600" dirty="0"/>
          </a:p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300" b="1" dirty="0">
                <a:solidFill>
                  <a:srgbClr val="1D2F82"/>
                </a:solidFill>
                <a:latin typeface="Calibri" panose="020F0502020204030204"/>
              </a:rPr>
              <a:t>[7]  </a:t>
            </a:r>
            <a:r>
              <a:rPr lang="en-US" sz="1300" dirty="0">
                <a:solidFill>
                  <a:srgbClr val="1A1A1A"/>
                </a:solidFill>
                <a:latin typeface="Calibri" panose="020F0502020204030204"/>
              </a:rPr>
              <a:t>Y. Umuroglu et al., “FINN: A Framework for Fast, Scalable Binarized Neural Network Inference,” in Proc. ACM/SIGDA Int. Symp. FPGA, 2017, pp. 65–74.</a:t>
            </a:r>
            <a:endParaRPr lang="en-US" sz="1600" dirty="0"/>
          </a:p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300" b="1" dirty="0">
                <a:solidFill>
                  <a:srgbClr val="1D2F82"/>
                </a:solidFill>
                <a:latin typeface="Calibri" panose="020F0502020204030204"/>
              </a:rPr>
              <a:t>[8]  </a:t>
            </a:r>
            <a:r>
              <a:rPr lang="en-US" sz="1300" dirty="0">
                <a:solidFill>
                  <a:srgbClr val="1A1A1A"/>
                </a:solidFill>
                <a:latin typeface="Calibri" panose="020F0502020204030204"/>
              </a:rPr>
              <a:t>A. Radford et al., “Learning Transferable Visual Models From Natural Language Supervision,” in Proc. ICML, PMLR vol. 139, 2021, pp. 8748–8763.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 (2/2)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300" b="1" dirty="0">
                <a:solidFill>
                  <a:srgbClr val="1D2F82"/>
                </a:solidFill>
                <a:latin typeface="Calibri" panose="020F0502020204030204"/>
              </a:rPr>
              <a:t>[9]  </a:t>
            </a:r>
            <a:r>
              <a:rPr lang="en-US" sz="1300" dirty="0">
                <a:solidFill>
                  <a:srgbClr val="1A1A1A"/>
                </a:solidFill>
                <a:latin typeface="Calibri" panose="020F0502020204030204"/>
              </a:rPr>
              <a:t>J. Sawatzky, Y. Souri, C. Grund, and J. Gall, “What Object Should I Use? – Task Driven Object Detection,” in Proc. IEEE/CVF CVPR, 2019, pp. 7605–7614.</a:t>
            </a:r>
            <a:endParaRPr lang="en-US" sz="1600" dirty="0"/>
          </a:p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300" b="1" dirty="0">
                <a:solidFill>
                  <a:srgbClr val="1D2F82"/>
                </a:solidFill>
                <a:latin typeface="Calibri" panose="020F0502020204030204"/>
              </a:rPr>
              <a:t>[10]  </a:t>
            </a:r>
            <a:r>
              <a:rPr lang="en-US" sz="1300" dirty="0">
                <a:solidFill>
                  <a:srgbClr val="1A1A1A"/>
                </a:solidFill>
                <a:latin typeface="Calibri" panose="020F0502020204030204"/>
              </a:rPr>
              <a:t>P. Li et al., “TOIST: Task Oriented Instance Segmentation Transformer with Noun-Pronoun Distillation,” in Proc. NeurIPS, 2022.</a:t>
            </a:r>
            <a:endParaRPr lang="en-US" sz="1600" dirty="0"/>
          </a:p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300" b="1" dirty="0">
                <a:solidFill>
                  <a:srgbClr val="1D2F82"/>
                </a:solidFill>
                <a:latin typeface="Calibri" panose="020F0502020204030204"/>
              </a:rPr>
              <a:t>[11]  </a:t>
            </a:r>
            <a:r>
              <a:rPr lang="en-US" sz="1300" dirty="0">
                <a:solidFill>
                  <a:srgbClr val="1A1A1A"/>
                </a:solidFill>
                <a:latin typeface="Calibri" panose="020F0502020204030204"/>
              </a:rPr>
              <a:t>J. Tang, G. Zheng, J. Yu, and S. Yang, “CoTDet: Affordance Knowledge Prompting for Task Driven Object Detection,” in Proc. IEEE/CVF ICCV, 2023.</a:t>
            </a:r>
            <a:endParaRPr lang="en-US" sz="1600" dirty="0"/>
          </a:p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300" b="1" dirty="0">
                <a:solidFill>
                  <a:srgbClr val="1D2F82"/>
                </a:solidFill>
                <a:latin typeface="Calibri" panose="020F0502020204030204"/>
              </a:rPr>
              <a:t>[12]  </a:t>
            </a:r>
            <a:r>
              <a:rPr lang="en-US" sz="1300" dirty="0">
                <a:solidFill>
                  <a:srgbClr val="1A1A1A"/>
                </a:solidFill>
                <a:latin typeface="Calibri" panose="020F0502020204030204"/>
              </a:rPr>
              <a:t>M. Minderer et al., “Simple Open-Vocabulary Object Detection with Vision Transformers,” in Proc. ECCV, 2022.</a:t>
            </a:r>
            <a:endParaRPr lang="en-US" sz="1600" dirty="0"/>
          </a:p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300" b="1" dirty="0">
                <a:solidFill>
                  <a:srgbClr val="1D2F82"/>
                </a:solidFill>
                <a:latin typeface="Calibri" panose="020F0502020204030204"/>
              </a:rPr>
              <a:t>[13]  </a:t>
            </a:r>
            <a:r>
              <a:rPr lang="en-US" sz="1300" dirty="0">
                <a:solidFill>
                  <a:srgbClr val="1A1A1A"/>
                </a:solidFill>
                <a:latin typeface="Calibri" panose="020F0502020204030204"/>
              </a:rPr>
              <a:t>T. Cheng, L. Song, Y. Ge, W. Liu, X. Wang, and Y. Shan, “YOLO-World: Real-Time Open-Vocabulary Object Detection,” in Proc. IEEE/CVF CVPR, 2024.</a:t>
            </a:r>
            <a:endParaRPr lang="en-US" sz="1600" dirty="0"/>
          </a:p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300" b="1" dirty="0">
                <a:solidFill>
                  <a:srgbClr val="1D2F82"/>
                </a:solidFill>
                <a:latin typeface="Calibri" panose="020F0502020204030204"/>
              </a:rPr>
              <a:t>[14]  </a:t>
            </a:r>
            <a:r>
              <a:rPr lang="en-US" sz="1300" dirty="0">
                <a:solidFill>
                  <a:srgbClr val="1A1A1A"/>
                </a:solidFill>
                <a:latin typeface="Calibri" panose="020F0502020204030204"/>
              </a:rPr>
              <a:t>M. Shridhar, L. Manuelli, and D. Fox, “CLIPort: What and Where Pathways for Robotic Manipulation,” in Proc. CoRL, PMLR vol. 164, 2021.</a:t>
            </a:r>
            <a:endParaRPr lang="en-US" sz="1600" dirty="0"/>
          </a:p>
          <a:p>
            <a:pPr marL="0" indent="0">
              <a:spcAft>
                <a:spcPts val="500"/>
              </a:spcAft>
              <a:buSzPct val="100000"/>
              <a:buNone/>
            </a:pPr>
            <a:r>
              <a:rPr lang="en-US" sz="1300" b="1" dirty="0">
                <a:solidFill>
                  <a:srgbClr val="1D2F82"/>
                </a:solidFill>
                <a:latin typeface="Calibri" panose="020F0502020204030204"/>
              </a:rPr>
              <a:t>[15]  </a:t>
            </a:r>
            <a:r>
              <a:rPr lang="en-US" sz="1300" dirty="0">
                <a:solidFill>
                  <a:srgbClr val="1A1A1A"/>
                </a:solidFill>
                <a:latin typeface="Calibri" panose="020F0502020204030204"/>
              </a:rPr>
              <a:t>M. Ahn et al., “Do As I Can, Not As I Say: Grounding Language in Robotic Affordances,” in Proc. CoRL, PMLR vol. 205, 2022.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Task-Aware Object Identification for Assistive Robotics  ·  Shubh Gupta  ·  Aarav Sharma  ·  Ankush Kumar Jaiswal</a:t>
            </a:r>
            <a:endParaRPr 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 i="0">
                <a:solidFill>
                  <a:srgbClr val="595959"/>
                </a:solidFill>
                <a:latin typeface="Calibri" panose="020F0502020204030204"/>
              </a:rPr>
              <a:t>Project-I (2026)  ·  SENSE  ·  VIT Chennai</a:t>
            </a:r>
            <a:endParaRPr sz="1200" b="0" i="0">
              <a:solidFill>
                <a:srgbClr val="59595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14890</Words>
  <Application>WPS Presentation</Application>
  <PresentationFormat>Widescreen</PresentationFormat>
  <Paragraphs>615</Paragraphs>
  <Slides>18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Calibri</vt:lpstr>
      <vt:lpstr>Calibri</vt:lpstr>
      <vt:lpstr>Calibri</vt:lpstr>
      <vt:lpstr>Courier New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Shubh Gupta</cp:lastModifiedBy>
  <cp:revision>6</cp:revision>
  <dcterms:created xsi:type="dcterms:W3CDTF">2026-08-27T09:57:00Z</dcterms:created>
  <dcterms:modified xsi:type="dcterms:W3CDTF">2026-09-30T10:29:55Z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71F1EEA2DC674AE59AF17C62A628EC66_12</vt:lpwstr>
  </property>
  <property fmtid="{D5CDD505-2E9C-101B-9397-08002B2CF9AE}" pid="3" name="KSOProductBuildVer">
    <vt:lpwstr>2057-12.2.0.23206</vt:lpwstr>
  </property>
</Properties>
</file>
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0" r:id="rId3"/>
    <p:sldId id="257" r:id="rId4"/>
    <p:sldId id="258" r:id="rId5"/>
    <p:sldId id="259" r:id="rId6"/>
    <p:sldId id="260" r:id="rId7"/>
    <p:sldId id="275" r:id="rId8"/>
    <p:sldId id="272" r:id="rId9"/>
    <p:sldId id="271" r:id="rId10"/>
    <p:sldId id="261" r:id="rId11"/>
    <p:sldId id="273" r:id="rId12"/>
    <p:sldId id="274" r:id="rId13"/>
    <p:sldId id="262" r:id="rId14"/>
    <p:sldId id="278" r:id="rId15"/>
    <p:sldId id="279" r:id="rId16"/>
    <p:sldId id="281" r:id="rId17"/>
    <p:sldId id="263" r:id="rId18"/>
    <p:sldId id="264" r:id="rId19"/>
    <p:sldId id="267" r:id="rId20"/>
    <p:sldId id="268" r:id="rId21"/>
    <p:sldId id="269" r:id="rId22"/>
    <p:sldId id="26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8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94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23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47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5BD37-F52A-4EA5-B977-7C45B514F931}" type="datetime1">
              <a:rPr lang="en-US" smtClean="0"/>
              <a:t>9/9/2026</a:t>
            </a:fld>
            <a:endParaRPr lang="en-US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Number #</a:t>
            </a:r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1805E-8ECD-4665-ACF6-E4B39ECC81D8}" type="slidenum">
              <a:rPr lang="en-US" smtClean="0"/>
              <a:t>‹#›</a:t>
            </a:fld>
            <a:endParaRPr lang="en-US"/>
          </a:p>
        </p:txBody>
      </p:sp>
      <p:sp>
        <p:nvSpPr>
          <p:cNvPr id="1048599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2103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.png"/><Relationship Id="rId9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1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10" Type="http://schemas.openxmlformats.org/officeDocument/2006/relationships/image" Target="../media/image30.jpeg"/><Relationship Id="rId4" Type="http://schemas.openxmlformats.org/officeDocument/2006/relationships/image" Target="../media/image24.jpeg"/><Relationship Id="rId9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1434529/" TargetMode="External"/><Relationship Id="rId2" Type="http://schemas.openxmlformats.org/officeDocument/2006/relationships/hyperlink" Target="https://doi.org/10.1109/CVPR.2016.91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587/transfun.2024VLP0009" TargetMode="External"/><Relationship Id="rId4" Type="http://schemas.openxmlformats.org/officeDocument/2006/relationships/hyperlink" Target="https://ieeexplore.ieee.org/document/10863546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00521-021-06113-4" TargetMode="External"/><Relationship Id="rId2" Type="http://schemas.openxmlformats.org/officeDocument/2006/relationships/hyperlink" Target="https://doi.org/10.1007/s00521-022-07351-w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roceedings.mlr.press/v139/radford21a.html" TargetMode="External"/><Relationship Id="rId4" Type="http://schemas.openxmlformats.org/officeDocument/2006/relationships/hyperlink" Target="https://doi.org/10.1016/j.vlsi.2024.102255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0000" y="1200000"/>
            <a:ext cx="10800000" cy="1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D4B"/>
                </a:solidFill>
                <a:latin typeface="Calibri"/>
              </a:rPr>
              <a:t>Task-Aware Object Identification using
FPGA-Accelerated YOLO and Semantic Ranking on PYNQ-Z2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000" y="2750000"/>
            <a:ext cx="10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B5B8C"/>
                </a:solidFill>
                <a:latin typeface="Calibri"/>
              </a:rPr>
              <a:t>Project-I (2026)  •  Review-I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000" y="345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D4B"/>
                </a:solidFill>
                <a:latin typeface="Calibri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0000" y="3380000"/>
            <a:ext cx="4800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Calibri"/>
              </a:rPr>
              <a:t>Shubh Gupta — 23BLC1322
Aarav Sharma — 23BLC1300
Ankush Kumar Jaiswal — 23BLC1179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" y="4750000"/>
            <a:ext cx="25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D4B"/>
                </a:solidFill>
                <a:latin typeface="Calibri"/>
              </a:rPr>
              <a:t>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0000" y="4680000"/>
            <a:ext cx="52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Calibri"/>
              </a:rPr>
              <a:t>Prof. Jean Jenifer Nesam 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" y="5300000"/>
            <a:ext cx="6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Calibri"/>
              </a:rPr>
              <a:t>B.Tech — SENSE, VIT Chennai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0000" y="3400000"/>
            <a:ext cx="3600000" cy="1900000"/>
          </a:xfrm>
          <a:prstGeom prst="roundRect">
            <a:avLst/>
          </a:prstGeom>
          <a:solidFill>
            <a:srgbClr val="F2F6FA"/>
          </a:solidFill>
          <a:ln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50000" y="3650000"/>
            <a:ext cx="31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2D4B"/>
                </a:solidFill>
                <a:latin typeface="Calibri"/>
              </a:rPr>
              <a:t>Guide's Signature with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000" y="4200000"/>
            <a:ext cx="31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Calibri"/>
              </a:rPr>
              <a:t>Signature: __________________
Date: 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" y="6000000"/>
            <a:ext cx="10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Calibri"/>
              </a:rPr>
              <a:t>Please obtain the guide's signature/date and scan this slide before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8" y="231160"/>
            <a:ext cx="11676659" cy="645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9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0000" y="1400000"/>
            <a:ext cx="5000000" cy="15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Review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000" y="1870000"/>
            <a:ext cx="4760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Problem clarity • literature survey • proposed solution • methodology • work completed so far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0000" y="1400000"/>
            <a:ext cx="5000000" cy="15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2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Current project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0000" y="1870000"/>
            <a:ext cx="47600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FPGA-accelerated YOLO performs object </a:t>
            </a:r>
            <a:r>
              <a:rPr sz="1600" b="0" dirty="0" smtClean="0">
                <a:solidFill>
                  <a:srgbClr val="232323"/>
                </a:solidFill>
                <a:latin typeface="Calibri"/>
              </a:rPr>
              <a:t>detection </a:t>
            </a:r>
            <a:r>
              <a:rPr lang="en-IN" sz="1600" b="0" dirty="0" smtClean="0">
                <a:solidFill>
                  <a:srgbClr val="232323"/>
                </a:solidFill>
                <a:latin typeface="Calibri"/>
              </a:rPr>
              <a:t>on PYNQ-Z2 board on real time image with </a:t>
            </a:r>
            <a:r>
              <a:rPr sz="1600" b="0" dirty="0" smtClean="0">
                <a:solidFill>
                  <a:srgbClr val="232323"/>
                </a:solidFill>
                <a:latin typeface="Calibri"/>
              </a:rPr>
              <a:t>task-aware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semantic ranking.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000" y="3300000"/>
            <a:ext cx="5000000" cy="1500000"/>
          </a:xfrm>
          <a:prstGeom prst="roundRect">
            <a:avLst/>
          </a:prstGeom>
          <a:solidFill>
            <a:srgbClr val="F7F8F4"/>
          </a:solidFill>
          <a:ln w="19050">
            <a:solidFill>
              <a:srgbClr val="2D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000" y="33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785A"/>
                </a:solidFill>
                <a:latin typeface="Calibri"/>
              </a:rPr>
              <a:t>Target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000" y="3770000"/>
            <a:ext cx="4760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Real-time edge inference (~30 FPS) within a power envelope below 15 W</a:t>
            </a:r>
            <a:r>
              <a:rPr sz="1600" b="0" dirty="0" smtClean="0">
                <a:solidFill>
                  <a:srgbClr val="232323"/>
                </a:solidFill>
                <a:latin typeface="Calibri"/>
              </a:rPr>
              <a:t>,.</a:t>
            </a:r>
            <a:endParaRPr sz="1600" b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00000" y="3300000"/>
            <a:ext cx="5000000" cy="15000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D2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20000" y="33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2822D"/>
                </a:solidFill>
                <a:latin typeface="Calibri"/>
              </a:rPr>
              <a:t>Implementation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0000" y="3770000"/>
            <a:ext cx="4760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Architecture/design phase. Physical build and hardware bring-up are planned for the implementation phase.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" y="5600000"/>
            <a:ext cx="10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Calibri"/>
              </a:rPr>
              <a:t>Presentation basis: current project deck + VIT Review-I template.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alibri"/>
              </a:rPr>
              <a:t>Problem Statement &amp;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000" y="1400000"/>
            <a:ext cx="5000000" cy="18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" y="1870000"/>
            <a:ext cx="47600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Conventional object detectors identify and classify objects, but they do not determine which detected object best satisfies a user-defined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0000" y="1400000"/>
            <a:ext cx="5000000" cy="1800000"/>
          </a:xfrm>
          <a:prstGeom prst="roundRect">
            <a:avLst/>
          </a:prstGeom>
          <a:solidFill>
            <a:srgbClr val="F7F8F4"/>
          </a:solidFill>
          <a:ln w="19050">
            <a:solidFill>
              <a:srgbClr val="2D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2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785A"/>
                </a:solidFill>
                <a:latin typeface="Calibri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0000" y="1870000"/>
            <a:ext cx="4760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For the task “sit comfortably”, the system should rank a chair above visually detected alternatives such as a TV.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000" y="3600000"/>
            <a:ext cx="5000000" cy="18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000" y="36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Existing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000" y="4070000"/>
            <a:ext cx="47600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Current pipeline: image → Tiny YOLOv2 on </a:t>
            </a:r>
            <a:r>
              <a:rPr lang="en-IN" sz="1600" dirty="0" smtClean="0">
                <a:solidFill>
                  <a:srgbClr val="232323"/>
                </a:solidFill>
                <a:latin typeface="Calibri"/>
              </a:rPr>
              <a:t>PYNQ board</a:t>
            </a:r>
            <a:r>
              <a:rPr sz="1600" b="0" dirty="0" smtClean="0">
                <a:solidFill>
                  <a:srgbClr val="232323"/>
                </a:solidFill>
                <a:latin typeface="Calibri"/>
              </a:rPr>
              <a:t>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→ detected objects → classifier </a:t>
            </a:r>
            <a:r>
              <a:rPr lang="en-IN" sz="1600" dirty="0" smtClean="0">
                <a:solidFill>
                  <a:srgbClr val="232323"/>
                </a:solidFill>
                <a:latin typeface="Calibri"/>
              </a:rPr>
              <a:t>using model 2</a:t>
            </a:r>
            <a:r>
              <a:rPr sz="1600" b="0" dirty="0" smtClean="0">
                <a:solidFill>
                  <a:srgbClr val="232323"/>
                </a:solidFill>
                <a:latin typeface="Calibri"/>
              </a:rPr>
              <a:t>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→ final prediction.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0000" y="3600000"/>
            <a:ext cx="5000000" cy="18000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D2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20000" y="36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2822D"/>
                </a:solidFill>
                <a:latin typeface="Calibri"/>
              </a:rPr>
              <a:t>Research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0000" y="4070000"/>
            <a:ext cx="47600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Detection is separated from task-oriented semantic reasoning. The proposed work addresses this using a heterogeneous FPGA + processor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alibri"/>
              </a:rP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099543"/>
              </p:ext>
            </p:extLst>
          </p:nvPr>
        </p:nvGraphicFramePr>
        <p:xfrm>
          <a:off x="650000" y="1350000"/>
          <a:ext cx="11197193" cy="523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Title / Source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Method / Approach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Finding / Relevance</a:t>
                      </a:r>
                    </a:p>
                  </a:txBody>
                  <a:tcPr>
                    <a:solidFill>
                      <a:srgbClr val="19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H. Li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FPGA-Based YOLOv5 Accelerator for Real-Time Industrial Vision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FPGA YOLO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Supports hardware-accelerated YOLO for real-time vision.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Y. Zhang et al.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FPGA-Based YOLOv6 Accelerator for High-Throughput and Energy-Efficient Object Detection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FPGA accelerator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Highlights throughput and energy efficiency.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R. Patel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Optimizing Resource Utilization and Power Efficiency in FPGA-Accelerated YOLOv8 Using Vivado HLS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Vivado HLS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Relevant to LUT/DSP/resource-aware implementation.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Xilinx Inc.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Designing High-Performance Video Systems in 7 Series FPGAs with AXI Interconnect (XAPP741)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AXI/video data movement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Relevant to camera, AXI and video pipelines.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AMD/Xilinx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PYNQ-Z2 Board Reference Manual and Datasheet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Target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Defines Zynq XC7Z020 resources and interfaces.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C-DAC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VEGA RISC-V Processor Architecture Documentation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RISC-V soft-core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Basis for semantic reasoning processor.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Z. Ziyuan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Building Vision-Language Retrieval Systems with 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CLIP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Supports text/image semantic similarity.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323"/>
                          </a:solidFill>
                          <a:latin typeface="Calibri"/>
                        </a:rPr>
                        <a:t>M. Rossi et al.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Enhancing Multi-Object Tracking with CLIP: A Comparative Study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CLIP for vision tasks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32323"/>
                          </a:solidFill>
                          <a:latin typeface="Calibri"/>
                        </a:rPr>
                        <a:t>Supports CLIP-based semantic ranking context.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alibri"/>
              </a:rPr>
              <a:t>Proposed Solution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000" y="12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Calibri"/>
              </a:rPr>
              <a:t>Proposed heterogeneous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000" y="1800000"/>
            <a:ext cx="2550000" cy="105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0000" y="1870000"/>
            <a:ext cx="231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1. Image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000" y="2270000"/>
            <a:ext cx="2310000" cy="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Calibri"/>
              </a:rPr>
              <a:t>Camera / image frame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000" y="1800000"/>
            <a:ext cx="2550000" cy="105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0000" y="1870000"/>
            <a:ext cx="231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2. FPGA perception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0000" y="2158760"/>
            <a:ext cx="231000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32323"/>
                </a:solidFill>
                <a:latin typeface="Calibri"/>
              </a:rPr>
              <a:t>Tiny YOLOv2
</a:t>
            </a:r>
            <a:r>
              <a:rPr lang="en-IN" sz="1300" b="0" dirty="0" smtClean="0">
                <a:solidFill>
                  <a:srgbClr val="232323"/>
                </a:solidFill>
                <a:latin typeface="Calibri"/>
              </a:rPr>
              <a:t>Object d</a:t>
            </a:r>
            <a:r>
              <a:rPr sz="1300" b="0" dirty="0" smtClean="0">
                <a:solidFill>
                  <a:srgbClr val="232323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232323"/>
                </a:solidFill>
                <a:latin typeface="Calibri"/>
              </a:rPr>
              <a:t>detection head + </a:t>
            </a:r>
            <a:r>
              <a:rPr sz="1300" b="0" dirty="0" smtClean="0">
                <a:solidFill>
                  <a:srgbClr val="232323"/>
                </a:solidFill>
                <a:latin typeface="Calibri"/>
              </a:rPr>
              <a:t>NMS</a:t>
            </a:r>
            <a:r>
              <a:rPr lang="en-IN" sz="1300" b="0" dirty="0" smtClean="0">
                <a:solidFill>
                  <a:srgbClr val="232323"/>
                </a:solidFill>
                <a:latin typeface="Calibri"/>
              </a:rPr>
              <a:t> on pynq-z2 board</a:t>
            </a:r>
            <a:endParaRPr sz="1300" b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50000" y="1800000"/>
            <a:ext cx="2550000" cy="1050000"/>
          </a:xfrm>
          <a:prstGeom prst="roundRect">
            <a:avLst/>
          </a:prstGeom>
          <a:solidFill>
            <a:srgbClr val="F7F8F4"/>
          </a:solidFill>
          <a:ln w="19050">
            <a:solidFill>
              <a:srgbClr val="2D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000" y="1870000"/>
            <a:ext cx="231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785A"/>
                </a:solidFill>
                <a:latin typeface="Calibri"/>
              </a:rPr>
              <a:t>3. Semantic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0000" y="2190000"/>
            <a:ext cx="23100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32323"/>
                </a:solidFill>
                <a:latin typeface="Calibri"/>
              </a:rPr>
              <a:t>CLIP text embedding + cosine </a:t>
            </a:r>
            <a:r>
              <a:rPr sz="1300" b="0" dirty="0" smtClean="0">
                <a:solidFill>
                  <a:srgbClr val="232323"/>
                </a:solidFill>
                <a:latin typeface="Calibri"/>
              </a:rPr>
              <a:t>similarity</a:t>
            </a:r>
            <a:endParaRPr sz="1300" b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00000" y="1800000"/>
            <a:ext cx="2550000" cy="10500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D2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0000" y="1870000"/>
            <a:ext cx="231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2822D"/>
                </a:solidFill>
                <a:latin typeface="Calibri"/>
              </a:rPr>
              <a:t>4.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0000" y="2190000"/>
            <a:ext cx="2310000" cy="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32323"/>
                </a:solidFill>
                <a:latin typeface="Calibri"/>
              </a:rPr>
              <a:t>Ranked objects + bounding-box overlay
HDMI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00" y="3300000"/>
            <a:ext cx="3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Calibri"/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" y="3750000"/>
            <a:ext cx="1040000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lang="en-IN" dirty="0"/>
              <a:t>DSP48E1 Convolution Mapping: Map 2D convolution MAC operations onto the 220 DSP48E1 slices of the PYNQ-Z2 Zynq-7000 (XC7Z020) PL fabric.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lang="en-IN" dirty="0"/>
              <a:t>BRAM Line Buffering: Use 560 KB on-chip BRAM (140 </a:t>
            </a:r>
            <a:r>
              <a:rPr lang="en-IN" dirty="0" smtClean="0"/>
              <a:t>X 36Kb </a:t>
            </a:r>
            <a:r>
              <a:rPr lang="en-IN" dirty="0"/>
              <a:t>blocks) for sliding-window feature-map buffering, eliminating off-chip DRAM bottlenecks.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lang="en-IN" dirty="0"/>
              <a:t>AXI VDMA Data Streaming: Stream video frames between 512 MB DDR3 memory and the PL accelerator overlay via high-throughput AXI4-Stream &amp; VDMA.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lang="en-IN" dirty="0"/>
              <a:t>Embedded Task Ranking (Model 2): Execute semantic task parsing and CLIP vector cosine similarity on the dual-core ARM Cortex-A9 CPU (with NEON acceleration) / VEGA RISC-V core via pynq.Overlay.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lang="en-IN" dirty="0"/>
              <a:t>PYNQ Co-Design Scope: Architectural mapping, INT8 model conversion, AXI DMA zero-copy memory allocation (pynq.allocate), and bitstream deployment.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VIT Chennai</a:t>
            </a:r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1805E-8ECD-4665-ACF6-E4B39ECC81D8}" type="slidenum">
              <a:rPr lang="en-US" smtClean="0"/>
              <a:t>7</a:t>
            </a:fld>
            <a:endParaRPr lang="en-US"/>
          </a:p>
        </p:txBody>
      </p:sp>
      <p:sp>
        <p:nvSpPr>
          <p:cNvPr id="1048644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10000"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Board: </a:t>
            </a:r>
            <a:r>
              <a:rPr lang="en-US" dirty="0"/>
              <a:t>PYNQ-Z2, Xilinx Zynq XC7Z020-1CLG400C SoC development board</a:t>
            </a:r>
          </a:p>
          <a:p>
            <a:pPr>
              <a:lnSpc>
                <a:spcPct val="130000"/>
              </a:lnSpc>
            </a:pPr>
            <a:r>
              <a:rPr lang="en-US" b="1" dirty="0"/>
              <a:t>On-chip resources used: </a:t>
            </a:r>
            <a:r>
              <a:rPr lang="en-US" dirty="0"/>
              <a:t>DSP48 slices, LUT logic, BRAM, and DDR3 external memory</a:t>
            </a:r>
          </a:p>
          <a:p>
            <a:pPr>
              <a:lnSpc>
                <a:spcPct val="130000"/>
              </a:lnSpc>
            </a:pPr>
            <a:r>
              <a:rPr lang="en-US" b="1" dirty="0" smtClean="0"/>
              <a:t>I/O</a:t>
            </a:r>
            <a:r>
              <a:rPr lang="en-US" b="1" dirty="0"/>
              <a:t>: </a:t>
            </a:r>
            <a:r>
              <a:rPr lang="en-US" dirty="0"/>
              <a:t>camera/image input, AXI interconnect and VDMA for video data movement, HDMI display output</a:t>
            </a:r>
          </a:p>
          <a:p>
            <a:pPr>
              <a:lnSpc>
                <a:spcPct val="130000"/>
              </a:lnSpc>
            </a:pPr>
            <a:r>
              <a:rPr lang="en-US" i="1" dirty="0"/>
              <a:t>Architecture design phase — physical build and bring-up planned for the implementation phase</a:t>
            </a:r>
          </a:p>
        </p:txBody>
      </p:sp>
      <p:sp>
        <p:nvSpPr>
          <p:cNvPr id="2" name="Rectangle 1"/>
          <p:cNvSpPr/>
          <p:nvPr/>
        </p:nvSpPr>
        <p:spPr>
          <a:xfrm>
            <a:off x="4241614" y="490649"/>
            <a:ext cx="37087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u="sng" dirty="0"/>
              <a:t>Target Hardware</a:t>
            </a:r>
          </a:p>
        </p:txBody>
      </p:sp>
    </p:spTree>
    <p:extLst>
      <p:ext uri="{BB962C8B-B14F-4D97-AF65-F5344CB8AC3E}">
        <p14:creationId xmlns:p14="http://schemas.microsoft.com/office/powerpoint/2010/main" val="247974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1805E-8ECD-4665-ACF6-E4B39ECC81D8}" type="slidenum">
              <a:rPr lang="en-US" smtClean="0"/>
              <a:t>8</a:t>
            </a:fld>
            <a:endParaRPr lang="en-US"/>
          </a:p>
        </p:txBody>
      </p:sp>
      <p:sp>
        <p:nvSpPr>
          <p:cNvPr id="1048626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5000" lnSpcReduction="20000"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Target board: </a:t>
            </a:r>
            <a:r>
              <a:rPr lang="en-US" dirty="0"/>
              <a:t>PYNQ-Z2, Xilinx Zynq XC7Z020-1CLG400C SoC (FPGA + ARM Cortex-A9)</a:t>
            </a:r>
          </a:p>
          <a:p>
            <a:pPr>
              <a:lnSpc>
                <a:spcPct val="130000"/>
              </a:lnSpc>
            </a:pPr>
            <a:r>
              <a:rPr lang="en-US" b="1" dirty="0"/>
              <a:t>YOLO-to-FPGA mapping: </a:t>
            </a:r>
            <a:r>
              <a:rPr lang="en-US" dirty="0"/>
              <a:t>convolution → DSP48 slices; activation (Leaky ReLU) → LUT logic; bias addition → LUT/DSP; feature maps → BRAM; model weights → DDR3</a:t>
            </a:r>
          </a:p>
          <a:p>
            <a:pPr>
              <a:lnSpc>
                <a:spcPct val="130000"/>
              </a:lnSpc>
            </a:pPr>
            <a:r>
              <a:rPr lang="en-US" b="1" dirty="0"/>
              <a:t>Memory hierarchy: </a:t>
            </a:r>
            <a:r>
              <a:rPr lang="en-US" dirty="0"/>
              <a:t>BRAM for feature-map/line buffers, DDR3 for weights and full frames, flash for CLIP embeddings and firmware</a:t>
            </a:r>
          </a:p>
          <a:p>
            <a:pPr>
              <a:lnSpc>
                <a:spcPct val="130000"/>
              </a:lnSpc>
            </a:pPr>
            <a:r>
              <a:rPr lang="en-US" b="1" dirty="0"/>
              <a:t>VEGA ET1031 RISC-V core: </a:t>
            </a:r>
            <a:r>
              <a:rPr lang="en-US" dirty="0"/>
              <a:t>RV32IM ISA, 3-stage in-order pipeline, ~100 MHz, hardware multiplier, implemented as a soft core in the FPGA fabric</a:t>
            </a:r>
          </a:p>
          <a:p>
            <a:pPr>
              <a:lnSpc>
                <a:spcPct val="130000"/>
              </a:lnSpc>
            </a:pPr>
            <a:r>
              <a:rPr lang="en-US" b="1" dirty="0"/>
              <a:t>Target performance: </a:t>
            </a:r>
            <a:r>
              <a:rPr lang="en-US" dirty="0"/>
              <a:t>~30 FPS real-time inference, under 15 W power envelope</a:t>
            </a:r>
          </a:p>
        </p:txBody>
      </p:sp>
      <p:sp>
        <p:nvSpPr>
          <p:cNvPr id="2" name="Rectangle 1"/>
          <p:cNvSpPr/>
          <p:nvPr/>
        </p:nvSpPr>
        <p:spPr>
          <a:xfrm>
            <a:off x="3576001" y="418584"/>
            <a:ext cx="46605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u="sng" dirty="0"/>
              <a:t>Design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415227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24408"/>
            <a:ext cx="8229600" cy="800000"/>
          </a:xfrm>
        </p:spPr>
        <p:txBody>
          <a:bodyPr/>
          <a:lstStyle/>
          <a:p>
            <a:r>
              <a:rPr lang="en-US" dirty="0"/>
              <a:t>Current Detection Pipeline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VIT Chennai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1805E-8ECD-4665-ACF6-E4B39ECC81D8}" type="slidenum">
              <a:rPr lang="en-US" smtClean="0"/>
              <a:t>9</a:t>
            </a:fld>
            <a:endParaRPr lang="en-US"/>
          </a:p>
        </p:txBody>
      </p:sp>
      <p:sp>
        <p:nvSpPr>
          <p:cNvPr id="101" name="FlowLine"/>
          <p:cNvSpPr/>
          <p:nvPr/>
        </p:nvSpPr>
        <p:spPr>
          <a:xfrm>
            <a:off x="1981200" y="1190000"/>
            <a:ext cx="8229600" cy="30000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lang="en-US" sz="1400" dirty="0">
                <a:solidFill>
                  <a:srgbClr val="464653"/>
                </a:solidFill>
              </a:rPr>
              <a:t>Image → Tiny YOLOv2 (PL) → Detected Objects → Classifier (PS + DDR3 RAM) → Final Prediction</a:t>
            </a:r>
          </a:p>
        </p:txBody>
      </p:sp>
      <p:sp>
        <p:nvSpPr>
          <p:cNvPr id="102" name="Box1 Container"/>
          <p:cNvSpPr/>
          <p:nvPr/>
        </p:nvSpPr>
        <p:spPr>
          <a:xfrm>
            <a:off x="1976000" y="1620000"/>
            <a:ext cx="1450000" cy="300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9050">
            <a:solidFill>
              <a:srgbClr val="8080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Header"/>
          <p:cNvSpPr/>
          <p:nvPr/>
        </p:nvSpPr>
        <p:spPr>
          <a:xfrm>
            <a:off x="1976000" y="1720000"/>
            <a:ext cx="1450000" cy="3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464653"/>
                </a:solidFill>
              </a:rPr>
              <a:t>Input Image</a:t>
            </a:r>
          </a:p>
        </p:txBody>
      </p:sp>
      <p:sp>
        <p:nvSpPr>
          <p:cNvPr id="104" name="ImgPlaceholder"/>
          <p:cNvSpPr/>
          <p:nvPr/>
        </p:nvSpPr>
        <p:spPr>
          <a:xfrm>
            <a:off x="2126000" y="2170000"/>
            <a:ext cx="1150000" cy="2100000"/>
          </a:xfrm>
          <a:prstGeom prst="rect">
            <a:avLst/>
          </a:prstGeom>
          <a:solidFill>
            <a:srgbClr val="E8E8E8"/>
          </a:solidFill>
          <a:ln w="9525">
            <a:solidFill>
              <a:srgbClr val="8080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ImgLabel"/>
          <p:cNvSpPr/>
          <p:nvPr/>
        </p:nvSpPr>
        <p:spPr>
          <a:xfrm>
            <a:off x="2126000" y="2170000"/>
            <a:ext cx="1150000" cy="21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000" dirty="0">
                <a:solidFill>
                  <a:srgbClr val="6B6B6B"/>
                </a:solidFill>
              </a:rPr>
              <a:t>Sample camera frame</a:t>
            </a:r>
          </a:p>
        </p:txBody>
      </p:sp>
      <p:sp>
        <p:nvSpPr>
          <p:cNvPr id="106" name="Arrow1"/>
          <p:cNvSpPr/>
          <p:nvPr/>
        </p:nvSpPr>
        <p:spPr>
          <a:xfrm>
            <a:off x="3426000" y="3005000"/>
            <a:ext cx="280000" cy="2300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Box2 Container"/>
          <p:cNvSpPr/>
          <p:nvPr/>
        </p:nvSpPr>
        <p:spPr>
          <a:xfrm>
            <a:off x="3706000" y="1620000"/>
            <a:ext cx="2250000" cy="300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9050">
            <a:solidFill>
              <a:srgbClr val="1F5F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Header"/>
          <p:cNvSpPr/>
          <p:nvPr/>
        </p:nvSpPr>
        <p:spPr>
          <a:xfrm>
            <a:off x="3706000" y="1710000"/>
            <a:ext cx="2250000" cy="3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F5FA8"/>
                </a:solidFill>
              </a:rPr>
              <a:t>FPGA Fabric (PL)</a:t>
            </a:r>
          </a:p>
        </p:txBody>
      </p:sp>
      <p:sp>
        <p:nvSpPr>
          <p:cNvPr id="109" name="ChipZynq"/>
          <p:cNvSpPr/>
          <p:nvPr/>
        </p:nvSpPr>
        <p:spPr>
          <a:xfrm>
            <a:off x="4181000" y="2100000"/>
            <a:ext cx="1300000" cy="5500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>
            <a:noFill/>
          </a:ln>
        </p:spPr>
        <p:txBody>
          <a:bodyPr wrap="square" lIns="18288" tIns="9144" rIns="18288" bIns="9144" anchor="ctr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Zynq XC7Z020</a:t>
            </a:r>
          </a:p>
        </p:txBody>
      </p:sp>
      <p:sp>
        <p:nvSpPr>
          <p:cNvPr id="110" name="YoloLabel"/>
          <p:cNvSpPr/>
          <p:nvPr/>
        </p:nvSpPr>
        <p:spPr>
          <a:xfrm>
            <a:off x="3826000" y="2760000"/>
            <a:ext cx="2010000" cy="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A1A1A"/>
                </a:solidFill>
              </a:rPr>
              <a:t>Tiny YOLOv2</a:t>
            </a:r>
          </a:p>
          <a:p>
            <a:pPr algn="ctr"/>
            <a:r>
              <a:rPr lang="en-US" sz="1050" dirty="0">
                <a:solidFill>
                  <a:srgbClr val="555555"/>
                </a:solidFill>
              </a:rPr>
              <a:t>(Object Detection)</a:t>
            </a:r>
          </a:p>
        </p:txBody>
      </p:sp>
      <p:sp>
        <p:nvSpPr>
          <p:cNvPr id="111" name="BBox1"/>
          <p:cNvSpPr/>
          <p:nvPr/>
        </p:nvSpPr>
        <p:spPr>
          <a:xfrm>
            <a:off x="4331000" y="3370000"/>
            <a:ext cx="380000" cy="350000"/>
          </a:xfrm>
          <a:prstGeom prst="rect">
            <a:avLst/>
          </a:prstGeom>
          <a:noFill/>
          <a:ln w="9525">
            <a:solidFill>
              <a:srgbClr val="1F5F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BBox2"/>
          <p:cNvSpPr/>
          <p:nvPr/>
        </p:nvSpPr>
        <p:spPr>
          <a:xfrm>
            <a:off x="4791000" y="3520000"/>
            <a:ext cx="300000" cy="500000"/>
          </a:xfrm>
          <a:prstGeom prst="rect">
            <a:avLst/>
          </a:prstGeom>
          <a:noFill/>
          <a:ln w="9525">
            <a:solidFill>
              <a:srgbClr val="1F5F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BBox3"/>
          <p:cNvSpPr/>
          <p:nvPr/>
        </p:nvSpPr>
        <p:spPr>
          <a:xfrm>
            <a:off x="5151000" y="3440000"/>
            <a:ext cx="260000" cy="420000"/>
          </a:xfrm>
          <a:prstGeom prst="rect">
            <a:avLst/>
          </a:prstGeom>
          <a:noFill/>
          <a:ln w="9525">
            <a:solidFill>
              <a:srgbClr val="1F5F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BBoxCaption"/>
          <p:cNvSpPr/>
          <p:nvPr/>
        </p:nvSpPr>
        <p:spPr>
          <a:xfrm>
            <a:off x="3826000" y="4200000"/>
            <a:ext cx="2010000" cy="3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950" dirty="0">
                <a:solidFill>
                  <a:srgbClr val="555555"/>
                </a:solidFill>
              </a:rPr>
              <a:t>Bounding boxes + confidence scores</a:t>
            </a:r>
          </a:p>
        </p:txBody>
      </p:sp>
      <p:sp>
        <p:nvSpPr>
          <p:cNvPr id="115" name="Arrow2"/>
          <p:cNvSpPr/>
          <p:nvPr/>
        </p:nvSpPr>
        <p:spPr>
          <a:xfrm>
            <a:off x="5956000" y="3005000"/>
            <a:ext cx="280000" cy="2300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Box3 Container"/>
          <p:cNvSpPr/>
          <p:nvPr/>
        </p:nvSpPr>
        <p:spPr>
          <a:xfrm>
            <a:off x="6236000" y="1620000"/>
            <a:ext cx="2250000" cy="300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9050">
            <a:solidFill>
              <a:srgbClr val="1E7A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Header"/>
          <p:cNvSpPr/>
          <p:nvPr/>
        </p:nvSpPr>
        <p:spPr>
          <a:xfrm>
            <a:off x="6236000" y="1690000"/>
            <a:ext cx="2250000" cy="42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150" b="1" dirty="0">
                <a:solidFill>
                  <a:srgbClr val="1E7A46"/>
                </a:solidFill>
              </a:rPr>
              <a:t>PS + On-board DDR3 RAM</a:t>
            </a:r>
          </a:p>
        </p:txBody>
      </p:sp>
      <p:sp>
        <p:nvSpPr>
          <p:cNvPr id="118" name="ChipARM"/>
          <p:cNvSpPr/>
          <p:nvPr/>
        </p:nvSpPr>
        <p:spPr>
          <a:xfrm>
            <a:off x="6386000" y="2140000"/>
            <a:ext cx="950000" cy="500000"/>
          </a:xfrm>
          <a:prstGeom prst="roundRect">
            <a:avLst>
              <a:gd name="adj" fmla="val 12000"/>
            </a:avLst>
          </a:prstGeom>
          <a:solidFill>
            <a:srgbClr val="2B2B2B"/>
          </a:solidFill>
          <a:ln>
            <a:noFill/>
          </a:ln>
        </p:spPr>
        <p:txBody>
          <a:bodyPr wrap="square" lIns="18288" tIns="9144" rIns="18288" bIns="9144" anchor="ctr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ARM Cortex-A9 (PS)</a:t>
            </a:r>
          </a:p>
        </p:txBody>
      </p:sp>
      <p:sp>
        <p:nvSpPr>
          <p:cNvPr id="119" name="ChipDDR3"/>
          <p:cNvSpPr/>
          <p:nvPr/>
        </p:nvSpPr>
        <p:spPr>
          <a:xfrm>
            <a:off x="7386000" y="2140000"/>
            <a:ext cx="950000" cy="500000"/>
          </a:xfrm>
          <a:prstGeom prst="roundRect">
            <a:avLst>
              <a:gd name="adj" fmla="val 12000"/>
            </a:avLst>
          </a:prstGeom>
          <a:solidFill>
            <a:srgbClr val="1E7A46"/>
          </a:solidFill>
          <a:ln>
            <a:noFill/>
          </a:ln>
        </p:spPr>
        <p:txBody>
          <a:bodyPr wrap="square" lIns="18288" tIns="9144" rIns="18288" bIns="9144" anchor="ctr">
            <a:norm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DDR3 RAM</a:t>
            </a:r>
          </a:p>
        </p:txBody>
      </p:sp>
      <p:cxnSp>
        <p:nvCxnSpPr>
          <p:cNvPr id="120" name="LinkARMDDR3"/>
          <p:cNvCxnSpPr/>
          <p:nvPr/>
        </p:nvCxnSpPr>
        <p:spPr>
          <a:xfrm>
            <a:off x="7336000" y="2390001"/>
            <a:ext cx="50000" cy="1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121" name="ClassifierLabel"/>
          <p:cNvSpPr/>
          <p:nvPr/>
        </p:nvSpPr>
        <p:spPr>
          <a:xfrm>
            <a:off x="6356000" y="2800000"/>
            <a:ext cx="2010000" cy="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A1A1A"/>
                </a:solidFill>
              </a:rPr>
              <a:t>Classifier</a:t>
            </a:r>
          </a:p>
          <a:p>
            <a:pPr algn="ctr"/>
            <a:r>
              <a:rPr lang="en-US" sz="1050" dirty="0">
                <a:solidFill>
                  <a:srgbClr val="555555"/>
                </a:solidFill>
              </a:rPr>
              <a:t>(Object Classification)</a:t>
            </a:r>
          </a:p>
        </p:txBody>
      </p:sp>
      <p:sp>
        <p:nvSpPr>
          <p:cNvPr id="122" name="Node1"/>
          <p:cNvSpPr/>
          <p:nvPr/>
        </p:nvSpPr>
        <p:spPr>
          <a:xfrm>
            <a:off x="6861000" y="3670000"/>
            <a:ext cx="180000" cy="1800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Node2"/>
          <p:cNvSpPr/>
          <p:nvPr/>
        </p:nvSpPr>
        <p:spPr>
          <a:xfrm>
            <a:off x="6861000" y="4050000"/>
            <a:ext cx="180000" cy="1800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Node3"/>
          <p:cNvSpPr/>
          <p:nvPr/>
        </p:nvSpPr>
        <p:spPr>
          <a:xfrm>
            <a:off x="7681000" y="3860000"/>
            <a:ext cx="180000" cy="180000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25" name="NetLine1"/>
          <p:cNvCxnSpPr/>
          <p:nvPr/>
        </p:nvCxnSpPr>
        <p:spPr>
          <a:xfrm>
            <a:off x="6951000" y="3760000"/>
            <a:ext cx="820000" cy="190000"/>
          </a:xfrm>
          <a:prstGeom prst="line">
            <a:avLst/>
          </a:prstGeom>
          <a:ln w="12700">
            <a:solidFill>
              <a:srgbClr val="1E7A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cxnSp>
        <p:nvCxnSpPr>
          <p:cNvPr id="126" name="NetLine2"/>
          <p:cNvCxnSpPr/>
          <p:nvPr/>
        </p:nvCxnSpPr>
        <p:spPr>
          <a:xfrm flipV="1">
            <a:off x="6951000" y="3950000"/>
            <a:ext cx="820000" cy="190000"/>
          </a:xfrm>
          <a:prstGeom prst="line">
            <a:avLst/>
          </a:prstGeom>
          <a:ln w="12700">
            <a:solidFill>
              <a:srgbClr val="1E7A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127" name="Box3Caption"/>
          <p:cNvSpPr/>
          <p:nvPr/>
        </p:nvSpPr>
        <p:spPr>
          <a:xfrm>
            <a:off x="6356000" y="4200000"/>
            <a:ext cx="2010000" cy="35000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ctr"/>
            <a:r>
              <a:rPr lang="en-US" sz="950" dirty="0">
                <a:solidFill>
                  <a:srgbClr val="555555"/>
                </a:solidFill>
              </a:rPr>
              <a:t>Classifier runs on PS using DDR3 RAM</a:t>
            </a:r>
          </a:p>
        </p:txBody>
      </p:sp>
      <p:sp>
        <p:nvSpPr>
          <p:cNvPr id="128" name="Arrow3"/>
          <p:cNvSpPr/>
          <p:nvPr/>
        </p:nvSpPr>
        <p:spPr>
          <a:xfrm>
            <a:off x="8486000" y="3005000"/>
            <a:ext cx="280000" cy="2300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Box4 Container"/>
          <p:cNvSpPr/>
          <p:nvPr/>
        </p:nvSpPr>
        <p:spPr>
          <a:xfrm>
            <a:off x="8766000" y="1620000"/>
            <a:ext cx="1450000" cy="300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9050">
            <a:solidFill>
              <a:srgbClr val="C55A1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0" name="Header"/>
          <p:cNvSpPr/>
          <p:nvPr/>
        </p:nvSpPr>
        <p:spPr>
          <a:xfrm>
            <a:off x="8766000" y="1720000"/>
            <a:ext cx="1450000" cy="3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C55A11"/>
                </a:solidFill>
              </a:rPr>
              <a:t>Final Prediction</a:t>
            </a:r>
          </a:p>
        </p:txBody>
      </p:sp>
      <p:sp>
        <p:nvSpPr>
          <p:cNvPr id="131" name="PredPlaceholder"/>
          <p:cNvSpPr/>
          <p:nvPr/>
        </p:nvSpPr>
        <p:spPr>
          <a:xfrm>
            <a:off x="8916000" y="2170000"/>
            <a:ext cx="1150000" cy="900000"/>
          </a:xfrm>
          <a:prstGeom prst="rect">
            <a:avLst/>
          </a:prstGeom>
          <a:solidFill>
            <a:srgbClr val="FFF3E9"/>
          </a:solidFill>
          <a:ln w="9525">
            <a:solidFill>
              <a:srgbClr val="C55A1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" name="PredIconLabel"/>
          <p:cNvSpPr/>
          <p:nvPr/>
        </p:nvSpPr>
        <p:spPr>
          <a:xfrm>
            <a:off x="8966000" y="2170000"/>
            <a:ext cx="1050000" cy="9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950" dirty="0">
                <a:solidFill>
                  <a:srgbClr val="6B3A00"/>
                </a:solidFill>
              </a:rPr>
              <a:t>Bounding box +</a:t>
            </a:r>
          </a:p>
          <a:p>
            <a:pPr algn="ctr"/>
            <a:r>
              <a:rPr lang="en-US" sz="950" dirty="0">
                <a:solidFill>
                  <a:srgbClr val="6B3A00"/>
                </a:solidFill>
              </a:rPr>
              <a:t>class label</a:t>
            </a:r>
          </a:p>
          <a:p>
            <a:pPr algn="ctr"/>
            <a:r>
              <a:rPr lang="en-US" sz="950" dirty="0">
                <a:solidFill>
                  <a:srgbClr val="6B3A00"/>
                </a:solidFill>
              </a:rPr>
              <a:t>overlay</a:t>
            </a:r>
          </a:p>
        </p:txBody>
      </p:sp>
      <p:sp>
        <p:nvSpPr>
          <p:cNvPr id="133" name="PredLabels"/>
          <p:cNvSpPr/>
          <p:nvPr/>
        </p:nvSpPr>
        <p:spPr>
          <a:xfrm>
            <a:off x="8886000" y="3220000"/>
            <a:ext cx="1210000" cy="9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A1A1A"/>
                </a:solidFill>
              </a:rPr>
              <a:t>Class: &lt;object&gt;</a:t>
            </a:r>
          </a:p>
          <a:p>
            <a:pPr algn="ctr"/>
            <a:r>
              <a:rPr lang="en-US" sz="1050" dirty="0">
                <a:solidFill>
                  <a:srgbClr val="555555"/>
                </a:solidFill>
              </a:rPr>
              <a:t>Confidence: 0.XX</a:t>
            </a:r>
          </a:p>
        </p:txBody>
      </p:sp>
      <p:sp>
        <p:nvSpPr>
          <p:cNvPr id="134" name="LegendBorder"/>
          <p:cNvSpPr/>
          <p:nvPr/>
        </p:nvSpPr>
        <p:spPr>
          <a:xfrm>
            <a:off x="1976000" y="4840000"/>
            <a:ext cx="8240000" cy="1000000"/>
          </a:xfrm>
          <a:prstGeom prst="rect">
            <a:avLst/>
          </a:prstGeom>
          <a:noFill/>
          <a:ln w="9525">
            <a:solidFill>
              <a:srgbClr val="C8C8C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5" name="Swatch0"/>
          <p:cNvSpPr/>
          <p:nvPr/>
        </p:nvSpPr>
        <p:spPr>
          <a:xfrm>
            <a:off x="2126000" y="4990000"/>
            <a:ext cx="220000" cy="220000"/>
          </a:xfrm>
          <a:prstGeom prst="rect">
            <a:avLst/>
          </a:prstGeom>
          <a:solidFill>
            <a:srgbClr val="1F5FA8"/>
          </a:solidFill>
          <a:ln w="9525">
            <a:solidFill>
              <a:srgbClr val="1F5F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LegendLabel0"/>
          <p:cNvSpPr/>
          <p:nvPr/>
        </p:nvSpPr>
        <p:spPr>
          <a:xfrm>
            <a:off x="2446000" y="4930000"/>
            <a:ext cx="2276666" cy="3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150" b="1" dirty="0">
                <a:solidFill>
                  <a:srgbClr val="1A1A1A"/>
                </a:solidFill>
              </a:rPr>
              <a:t>FPGA Fabric (PL)</a:t>
            </a:r>
          </a:p>
        </p:txBody>
      </p:sp>
      <p:sp>
        <p:nvSpPr>
          <p:cNvPr id="137" name="LegendDesc0"/>
          <p:cNvSpPr/>
          <p:nvPr/>
        </p:nvSpPr>
        <p:spPr>
          <a:xfrm>
            <a:off x="2446000" y="5260000"/>
            <a:ext cx="2276666" cy="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950" dirty="0">
                <a:solidFill>
                  <a:srgbClr val="555555"/>
                </a:solidFill>
              </a:rPr>
              <a:t>Tiny YOLOv2 runs on the Zynq PL (FPGA fabric) for high-speed object detection.</a:t>
            </a:r>
          </a:p>
        </p:txBody>
      </p:sp>
      <p:sp>
        <p:nvSpPr>
          <p:cNvPr id="138" name="Swatch1"/>
          <p:cNvSpPr/>
          <p:nvPr/>
        </p:nvSpPr>
        <p:spPr>
          <a:xfrm>
            <a:off x="4872666" y="4990000"/>
            <a:ext cx="220000" cy="220000"/>
          </a:xfrm>
          <a:prstGeom prst="rect">
            <a:avLst/>
          </a:prstGeom>
          <a:solidFill>
            <a:srgbClr val="1E7A46"/>
          </a:solidFill>
          <a:ln w="9525">
            <a:solidFill>
              <a:srgbClr val="1E7A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LegendLabel1"/>
          <p:cNvSpPr/>
          <p:nvPr/>
        </p:nvSpPr>
        <p:spPr>
          <a:xfrm>
            <a:off x="5192666" y="4930000"/>
            <a:ext cx="2276666" cy="3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150" b="1" dirty="0">
                <a:solidFill>
                  <a:srgbClr val="1A1A1A"/>
                </a:solidFill>
              </a:rPr>
              <a:t>PS + DDR3 RAM</a:t>
            </a:r>
          </a:p>
        </p:txBody>
      </p:sp>
      <p:sp>
        <p:nvSpPr>
          <p:cNvPr id="140" name="LegendDesc1"/>
          <p:cNvSpPr/>
          <p:nvPr/>
        </p:nvSpPr>
        <p:spPr>
          <a:xfrm>
            <a:off x="5192666" y="5260000"/>
            <a:ext cx="2276666" cy="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950" dirty="0">
                <a:solidFill>
                  <a:srgbClr val="555555"/>
                </a:solidFill>
              </a:rPr>
              <a:t>Classifier runs on the PS (ARM Cortex-A9) using on-board DDR3 RAM.</a:t>
            </a:r>
          </a:p>
        </p:txBody>
      </p:sp>
      <p:sp>
        <p:nvSpPr>
          <p:cNvPr id="141" name="Swatch2"/>
          <p:cNvSpPr/>
          <p:nvPr/>
        </p:nvSpPr>
        <p:spPr>
          <a:xfrm>
            <a:off x="7619332" y="4990000"/>
            <a:ext cx="220000" cy="220000"/>
          </a:xfrm>
          <a:prstGeom prst="rect">
            <a:avLst/>
          </a:prstGeom>
          <a:solidFill>
            <a:srgbClr val="C55A11"/>
          </a:solidFill>
          <a:ln w="9525">
            <a:solidFill>
              <a:srgbClr val="C55A1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LegendLabel2"/>
          <p:cNvSpPr/>
          <p:nvPr/>
        </p:nvSpPr>
        <p:spPr>
          <a:xfrm>
            <a:off x="7939332" y="4930000"/>
            <a:ext cx="2276666" cy="34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1150" b="1" dirty="0">
                <a:solidFill>
                  <a:srgbClr val="1A1A1A"/>
                </a:solidFill>
              </a:rPr>
              <a:t>Output</a:t>
            </a:r>
          </a:p>
        </p:txBody>
      </p:sp>
      <p:sp>
        <p:nvSpPr>
          <p:cNvPr id="143" name="LegendDesc2"/>
          <p:cNvSpPr/>
          <p:nvPr/>
        </p:nvSpPr>
        <p:spPr>
          <a:xfrm>
            <a:off x="7939332" y="5260000"/>
            <a:ext cx="2276666" cy="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lang="en-US" sz="950" dirty="0">
                <a:solidFill>
                  <a:srgbClr val="555555"/>
                </a:solidFill>
              </a:rPr>
              <a:t>Final predicted class with confidence score overlaid on the frame.</a:t>
            </a:r>
          </a:p>
        </p:txBody>
      </p:sp>
    </p:spTree>
    <p:extLst>
      <p:ext uri="{BB962C8B-B14F-4D97-AF65-F5344CB8AC3E}">
        <p14:creationId xmlns:p14="http://schemas.microsoft.com/office/powerpoint/2010/main" val="1853064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alibri"/>
              </a:rPr>
              <a:t>Work Completed (50%), Timeline &amp;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000" y="1250000"/>
            <a:ext cx="48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Calibri"/>
              </a:rPr>
              <a:t>Work completed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000" y="1700000"/>
            <a:ext cx="5600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Problem definition and task-aware vision objective established.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System architecture defined: FPGA YOLO + </a:t>
            </a:r>
            <a:r>
              <a:rPr lang="en-IN" sz="1500" dirty="0"/>
              <a:t>ARM Cortex-A9</a:t>
            </a:r>
            <a:r>
              <a:rPr dirty="0" smtClean="0"/>
              <a:t> </a:t>
            </a:r>
            <a:r>
              <a:rPr dirty="0"/>
              <a:t>semantic analyzer.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Current Tiny YOLOv2 detection pipeline documented.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PYNQ-Z2 / Zynq XC7Z020 resource mapping identified.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Model conversion flow defined: YOLO </a:t>
            </a:r>
            <a:r>
              <a:rPr dirty="0" smtClean="0"/>
              <a:t>→</a:t>
            </a:r>
            <a:r>
              <a:rPr lang="en-IN" dirty="0" smtClean="0"/>
              <a:t>quantized modle-&gt;PYNQ board-&gt;</a:t>
            </a:r>
            <a:r>
              <a:rPr dirty="0" smtClean="0"/>
              <a:t> </a:t>
            </a:r>
            <a:r>
              <a:rPr dirty="0"/>
              <a:t>hardware.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CLIP cosine-similarity ranking formulation defined.</a:t>
            </a:r>
          </a:p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rPr dirty="0"/>
              <a:t>• Memory hierarchy and AXI/VDMA data movement identified.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0" y="1250000"/>
            <a:ext cx="42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Calibri"/>
              </a:rPr>
              <a:t>Status /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00000" y="1700000"/>
            <a:ext cx="4500000" cy="1000000"/>
          </a:xfrm>
          <a:prstGeom prst="roundRect">
            <a:avLst/>
          </a:prstGeom>
          <a:solidFill>
            <a:srgbClr val="F7F8F4"/>
          </a:solidFill>
          <a:ln w="19050">
            <a:solidFill>
              <a:srgbClr val="2D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000" y="1770000"/>
            <a:ext cx="42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785A"/>
                </a:solidFill>
                <a:latin typeface="Calibri"/>
              </a:rPr>
              <a:t>Review-I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000" y="2083724"/>
            <a:ext cx="42600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32323"/>
                </a:solidFill>
                <a:latin typeface="Calibri"/>
              </a:rPr>
              <a:t>Problem + literature + proposed architecture
</a:t>
            </a:r>
            <a:r>
              <a:rPr sz="1300" b="0" dirty="0" smtClean="0">
                <a:solidFill>
                  <a:srgbClr val="232323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232323"/>
                </a:solidFill>
                <a:latin typeface="Calibri"/>
              </a:rPr>
              <a:t>Current design </a:t>
            </a:r>
            <a:r>
              <a:rPr sz="1300" b="0" dirty="0" smtClean="0">
                <a:solidFill>
                  <a:srgbClr val="232323"/>
                </a:solidFill>
                <a:latin typeface="Calibri"/>
              </a:rPr>
              <a:t>documentation</a:t>
            </a:r>
            <a:r>
              <a:rPr lang="en-IN" sz="1300" b="0" dirty="0" smtClean="0">
                <a:solidFill>
                  <a:srgbClr val="232323"/>
                </a:solidFill>
                <a:latin typeface="Calibri"/>
              </a:rPr>
              <a:t> + 50% work (software)</a:t>
            </a:r>
            <a:endParaRPr sz="1300" b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00000" y="2900000"/>
            <a:ext cx="4500000" cy="10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000" y="2970000"/>
            <a:ext cx="42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Review-II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000" y="3231336"/>
            <a:ext cx="42600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32323"/>
                </a:solidFill>
                <a:latin typeface="Calibri"/>
              </a:rPr>
              <a:t>Implementation / synthesis and hardware integration
→ </a:t>
            </a:r>
            <a:r>
              <a:rPr lang="en-IN" sz="1300" dirty="0" smtClean="0">
                <a:solidFill>
                  <a:srgbClr val="232323"/>
                </a:solidFill>
                <a:latin typeface="Calibri"/>
              </a:rPr>
              <a:t>75</a:t>
            </a:r>
            <a:r>
              <a:rPr lang="en-IN" sz="1300" dirty="0" smtClean="0">
                <a:solidFill>
                  <a:srgbClr val="232323"/>
                </a:solidFill>
                <a:latin typeface="Calibri"/>
              </a:rPr>
              <a:t>% </a:t>
            </a:r>
            <a:r>
              <a:rPr lang="en-IN" sz="1300" dirty="0" smtClean="0">
                <a:solidFill>
                  <a:srgbClr val="232323"/>
                </a:solidFill>
                <a:latin typeface="Calibri"/>
              </a:rPr>
              <a:t>work</a:t>
            </a:r>
            <a:endParaRPr sz="1300" b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00000" y="4100000"/>
            <a:ext cx="4500000" cy="10000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D2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0000" y="4170000"/>
            <a:ext cx="42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2822D"/>
                </a:solidFill>
                <a:latin typeface="Calibri"/>
              </a:rPr>
              <a:t>Review-III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000" y="4503779"/>
            <a:ext cx="42600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32323"/>
                </a:solidFill>
                <a:latin typeface="Calibri"/>
              </a:rPr>
              <a:t>Bring-up, benchmarking and final </a:t>
            </a:r>
            <a:r>
              <a:rPr sz="1300" b="0" dirty="0" smtClean="0">
                <a:solidFill>
                  <a:srgbClr val="232323"/>
                </a:solidFill>
                <a:latin typeface="Calibri"/>
              </a:rPr>
              <a:t>evaluation</a:t>
            </a:r>
            <a:r>
              <a:rPr lang="en-IN" sz="1300" b="0" dirty="0" smtClean="0">
                <a:solidFill>
                  <a:srgbClr val="232323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232323"/>
                </a:solidFill>
                <a:latin typeface="Calibri"/>
              </a:rPr>
              <a:t>
</a:t>
            </a:r>
            <a:r>
              <a:rPr lang="en-IN" sz="1300" b="0" dirty="0" smtClean="0">
                <a:solidFill>
                  <a:srgbClr val="232323"/>
                </a:solidFill>
                <a:latin typeface="Calibri"/>
              </a:rPr>
              <a:t>100%</a:t>
            </a:r>
            <a:r>
              <a:rPr sz="1300" b="0" dirty="0" smtClean="0">
                <a:solidFill>
                  <a:srgbClr val="232323"/>
                </a:solidFill>
                <a:latin typeface="Calibri"/>
              </a:rPr>
              <a:t>→ </a:t>
            </a:r>
            <a:r>
              <a:rPr lang="en-IN" sz="1300" dirty="0" smtClean="0">
                <a:solidFill>
                  <a:srgbClr val="232323"/>
                </a:solidFill>
                <a:latin typeface="Calibri"/>
              </a:rPr>
              <a:t>Demo</a:t>
            </a:r>
            <a:endParaRPr sz="1300" b="0" dirty="0">
              <a:solidFill>
                <a:srgbClr val="23232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1805E-8ECD-4665-ACF6-E4B39ECC81D8}" type="slidenum">
              <a:rPr lang="en-US" smtClean="0"/>
              <a:t>11</a:t>
            </a:fld>
            <a:endParaRPr lang="en-US"/>
          </a:p>
        </p:txBody>
      </p:sp>
      <p:sp>
        <p:nvSpPr>
          <p:cNvPr id="1048630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Convolution engine: </a:t>
            </a:r>
            <a:r>
              <a:rPr lang="en-US" dirty="0"/>
              <a:t>MAC = Input × Weight + Partial Sum, computed via BRAM feature fetch → DSP multiply-accumulate array → activation unit → output feature map</a:t>
            </a:r>
          </a:p>
          <a:p>
            <a:pPr>
              <a:lnSpc>
                <a:spcPct val="130000"/>
              </a:lnSpc>
            </a:pPr>
            <a:r>
              <a:rPr lang="en-US" b="1" dirty="0"/>
              <a:t>Three-level pipelining: </a:t>
            </a:r>
            <a:r>
              <a:rPr lang="en-US" dirty="0"/>
              <a:t>instruction-level (read/multiply/accumulate/activate), layer-level (conv/pool/detect run concurrently), and frame-level (buffer rotation across frames) for continuous real-time inference</a:t>
            </a:r>
          </a:p>
          <a:p>
            <a:pPr>
              <a:lnSpc>
                <a:spcPct val="130000"/>
              </a:lnSpc>
            </a:pPr>
            <a:r>
              <a:rPr lang="en-US" b="1" dirty="0"/>
              <a:t>CLIP-based semantic ranking: </a:t>
            </a:r>
            <a:r>
              <a:rPr lang="en-US" dirty="0"/>
              <a:t>Similarity = (Image Vector · Text Vector) / (|Image Vector| × |Text Vector|); the VEGA core computes this cosine similarity to rank candidate objects against the task query</a:t>
            </a:r>
          </a:p>
        </p:txBody>
      </p:sp>
      <p:sp>
        <p:nvSpPr>
          <p:cNvPr id="2" name="Rectangle 1"/>
          <p:cNvSpPr/>
          <p:nvPr/>
        </p:nvSpPr>
        <p:spPr>
          <a:xfrm>
            <a:off x="5111281" y="377309"/>
            <a:ext cx="19286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u="sng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951660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104863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104863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1805E-8ECD-4665-ACF6-E4B39ECC81D8}" type="slidenum">
              <a:rPr lang="en-US" smtClean="0"/>
              <a:t>12</a:t>
            </a:fld>
            <a:endParaRPr lang="en-US"/>
          </a:p>
        </p:txBody>
      </p:sp>
      <p:sp>
        <p:nvSpPr>
          <p:cNvPr id="1048634" name="Box Python"/>
          <p:cNvSpPr/>
          <p:nvPr/>
        </p:nvSpPr>
        <p:spPr>
          <a:xfrm>
            <a:off x="2895600" y="1714600"/>
            <a:ext cx="6400800" cy="8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Python YOLO Model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Trained in PyTorch / TensorFlow</a:t>
            </a:r>
          </a:p>
        </p:txBody>
      </p:sp>
      <p:sp>
        <p:nvSpPr>
          <p:cNvPr id="1048635" name="Arrow1"/>
          <p:cNvSpPr/>
          <p:nvPr/>
        </p:nvSpPr>
        <p:spPr>
          <a:xfrm>
            <a:off x="5846000" y="2511200"/>
            <a:ext cx="500000" cy="230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8636" name="Box ONNX"/>
          <p:cNvSpPr/>
          <p:nvPr/>
        </p:nvSpPr>
        <p:spPr>
          <a:xfrm>
            <a:off x="2895600" y="2771200"/>
            <a:ext cx="6400800" cy="8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ONNX Export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Framework-independent graph: layers, weights, tensor ops</a:t>
            </a:r>
          </a:p>
        </p:txBody>
      </p:sp>
      <p:sp>
        <p:nvSpPr>
          <p:cNvPr id="1048637" name="Arrow2"/>
          <p:cNvSpPr/>
          <p:nvPr/>
        </p:nvSpPr>
        <p:spPr>
          <a:xfrm>
            <a:off x="5846000" y="3621200"/>
            <a:ext cx="500000" cy="230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8638" name="Box HLS"/>
          <p:cNvSpPr/>
          <p:nvPr/>
        </p:nvSpPr>
        <p:spPr>
          <a:xfrm>
            <a:off x="2895600" y="3881200"/>
            <a:ext cx="6400800" cy="8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HLS Conversion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ONNX → C/C++ → Vivado HLS synthesis</a:t>
            </a:r>
          </a:p>
        </p:txBody>
      </p:sp>
      <p:sp>
        <p:nvSpPr>
          <p:cNvPr id="1048639" name="Arrow3"/>
          <p:cNvSpPr/>
          <p:nvPr/>
        </p:nvSpPr>
        <p:spPr>
          <a:xfrm>
            <a:off x="5846000" y="4731200"/>
            <a:ext cx="500000" cy="230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8640" name="Box RTL"/>
          <p:cNvSpPr/>
          <p:nvPr/>
        </p:nvSpPr>
        <p:spPr>
          <a:xfrm>
            <a:off x="2895600" y="4991200"/>
            <a:ext cx="6400800" cy="8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RTL Hardware Generation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Synthesized into FPGA logic blocks (PYNQ-Z2)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50020" y="517497"/>
            <a:ext cx="66919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/>
              <a:t>Model Conversion &amp; Deployment Workflow</a:t>
            </a:r>
          </a:p>
        </p:txBody>
      </p:sp>
    </p:spTree>
    <p:extLst>
      <p:ext uri="{BB962C8B-B14F-4D97-AF65-F5344CB8AC3E}">
        <p14:creationId xmlns:p14="http://schemas.microsoft.com/office/powerpoint/2010/main" val="3652569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alibri"/>
              </a:rPr>
              <a:t>Results / Current Design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000" y="1400000"/>
            <a:ext cx="5000000" cy="18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Compute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" y="1870000"/>
            <a:ext cx="47600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MAC = Input × Weight + Partial Sum. Feature data is fetched from BRAM and processed through DSP multiply-accumulate logic followed by activation.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0000" y="1400000"/>
            <a:ext cx="5000000" cy="18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2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Pipelining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0000" y="1870000"/>
            <a:ext cx="47600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Three levels are defined: instruction-level (read/multiply/accumulate/activate), layer-level (conv/pool/detect overlap), and frame-level buffering.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000" y="3600000"/>
            <a:ext cx="5000000" cy="1800000"/>
          </a:xfrm>
          <a:prstGeom prst="roundRect">
            <a:avLst/>
          </a:prstGeom>
          <a:solidFill>
            <a:srgbClr val="F7F8F4"/>
          </a:solidFill>
          <a:ln w="19050">
            <a:solidFill>
              <a:srgbClr val="2D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000" y="36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D785A"/>
                </a:solidFill>
                <a:latin typeface="Calibri"/>
              </a:rPr>
              <a:t>Memory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000" y="4070000"/>
            <a:ext cx="47600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32323"/>
                </a:solidFill>
                <a:latin typeface="Calibri"/>
              </a:rPr>
              <a:t>BRAM: feature maps / line buffers
DDR3: weights / full frames
Flash: CLIP embeddings / firmware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0000" y="3600000"/>
            <a:ext cx="5000000" cy="18000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D2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20000" y="36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2822D"/>
                </a:solidFill>
                <a:latin typeface="Calibri"/>
              </a:rPr>
              <a:t>Target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0000" y="4070000"/>
            <a:ext cx="476000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dirty="0">
                <a:solidFill>
                  <a:srgbClr val="232323"/>
                </a:solidFill>
                <a:latin typeface="Calibri"/>
              </a:rPr>
              <a:t>PYNQ-Z2 / XC7Z020 • </a:t>
            </a:r>
            <a:r>
              <a:rPr lang="en-IN" sz="1600" dirty="0"/>
              <a:t>ARM Cortex-A9</a:t>
            </a:r>
            <a:r>
              <a:rPr sz="1600" b="0" dirty="0" smtClean="0">
                <a:solidFill>
                  <a:srgbClr val="232323"/>
                </a:solidFill>
                <a:latin typeface="Calibri"/>
              </a:rPr>
              <a:t>• </a:t>
            </a:r>
            <a:r>
              <a:rPr sz="1600" b="0" dirty="0">
                <a:solidFill>
                  <a:srgbClr val="232323"/>
                </a:solidFill>
                <a:latin typeface="Calibri"/>
              </a:rPr>
              <a:t>~100 MHz soft-core target • ~30 FPS inference • &lt;15 W target envelope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u="sng" dirty="0" smtClean="0">
                <a:solidFill>
                  <a:srgbClr val="232323"/>
                </a:solidFill>
                <a:latin typeface="Calibri"/>
              </a:rPr>
              <a:t>Results</a:t>
            </a:r>
            <a:endParaRPr sz="2700" b="1" u="sng" dirty="0">
              <a:solidFill>
                <a:srgbClr val="232323"/>
              </a:solidFill>
              <a:latin typeface="Calibri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079915"/>
              </p:ext>
            </p:extLst>
          </p:nvPr>
        </p:nvGraphicFramePr>
        <p:xfrm>
          <a:off x="1546225" y="838786"/>
          <a:ext cx="8603615" cy="57347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3590">
                  <a:extLst>
                    <a:ext uri="{9D8B030D-6E8A-4147-A177-3AD203B41FA5}">
                      <a16:colId xmlns:a16="http://schemas.microsoft.com/office/drawing/2014/main" val="107281809"/>
                    </a:ext>
                  </a:extLst>
                </a:gridCol>
                <a:gridCol w="2153137">
                  <a:extLst>
                    <a:ext uri="{9D8B030D-6E8A-4147-A177-3AD203B41FA5}">
                      <a16:colId xmlns:a16="http://schemas.microsoft.com/office/drawing/2014/main" val="2475238775"/>
                    </a:ext>
                  </a:extLst>
                </a:gridCol>
                <a:gridCol w="2405975">
                  <a:extLst>
                    <a:ext uri="{9D8B030D-6E8A-4147-A177-3AD203B41FA5}">
                      <a16:colId xmlns:a16="http://schemas.microsoft.com/office/drawing/2014/main" val="962974569"/>
                    </a:ext>
                  </a:extLst>
                </a:gridCol>
                <a:gridCol w="3160913">
                  <a:extLst>
                    <a:ext uri="{9D8B030D-6E8A-4147-A177-3AD203B41FA5}">
                      <a16:colId xmlns:a16="http://schemas.microsoft.com/office/drawing/2014/main" val="3290032093"/>
                    </a:ext>
                  </a:extLst>
                </a:gridCol>
              </a:tblGrid>
              <a:tr h="497680">
                <a:tc>
                  <a:txBody>
                    <a:bodyPr/>
                    <a:lstStyle/>
                    <a:p>
                      <a:pPr marL="6350" marR="2603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S.No.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2921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Input Text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Output Object Confidence and Score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2921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Image Output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extLst>
                  <a:ext uri="{0D108BD9-81ED-4DB2-BD59-A6C34878D82A}">
                    <a16:rowId xmlns:a16="http://schemas.microsoft.com/office/drawing/2014/main" val="3365386941"/>
                  </a:ext>
                </a:extLst>
              </a:tr>
              <a:tr h="582343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1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the person stepped on something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Person,0.925,0.795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5607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 anchor="b"/>
                </a:tc>
                <a:extLst>
                  <a:ext uri="{0D108BD9-81ED-4DB2-BD59-A6C34878D82A}">
                    <a16:rowId xmlns:a16="http://schemas.microsoft.com/office/drawing/2014/main" val="2528658213"/>
                  </a:ext>
                </a:extLst>
              </a:tr>
              <a:tr h="497680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2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i want to sit in a relaxed manner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Toilet,0.8750.763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5651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 anchor="b"/>
                </a:tc>
                <a:extLst>
                  <a:ext uri="{0D108BD9-81ED-4DB2-BD59-A6C34878D82A}">
                    <a16:rowId xmlns:a16="http://schemas.microsoft.com/office/drawing/2014/main" val="1583201845"/>
                  </a:ext>
                </a:extLst>
              </a:tr>
              <a:tr h="750774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3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something which contains smelling good thing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Vase, 0.911,0.747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5651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 anchor="b"/>
                </a:tc>
                <a:extLst>
                  <a:ext uri="{0D108BD9-81ED-4DB2-BD59-A6C34878D82A}">
                    <a16:rowId xmlns:a16="http://schemas.microsoft.com/office/drawing/2014/main" val="3461360444"/>
                  </a:ext>
                </a:extLst>
              </a:tr>
              <a:tr h="789298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4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item wbhich provide carbohydrate is taking out of fire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Potato,0.422,0.643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5651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 anchor="b"/>
                </a:tc>
                <a:extLst>
                  <a:ext uri="{0D108BD9-81ED-4DB2-BD59-A6C34878D82A}">
                    <a16:rowId xmlns:a16="http://schemas.microsoft.com/office/drawing/2014/main" val="478026110"/>
                  </a:ext>
                </a:extLst>
              </a:tr>
              <a:tr h="843053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5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2222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someone is watering the plant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Person,0.793,0.742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5607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 anchor="b"/>
                </a:tc>
                <a:extLst>
                  <a:ext uri="{0D108BD9-81ED-4DB2-BD59-A6C34878D82A}">
                    <a16:rowId xmlns:a16="http://schemas.microsoft.com/office/drawing/2014/main" val="1402546189"/>
                  </a:ext>
                </a:extLst>
              </a:tr>
              <a:tr h="903078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6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2349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something is to be taken away from tea cup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Orange,0.651,0.696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5607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 anchor="b"/>
                </a:tc>
                <a:extLst>
                  <a:ext uri="{0D108BD9-81ED-4DB2-BD59-A6C34878D82A}">
                    <a16:rowId xmlns:a16="http://schemas.microsoft.com/office/drawing/2014/main" val="3628567532"/>
                  </a:ext>
                </a:extLst>
              </a:tr>
              <a:tr h="870827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7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someone digs hole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</a:rPr>
                        <a:t>Person,0.451,0.681 </a:t>
                      </a:r>
                      <a:endParaRPr lang="en-IN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/>
                </a:tc>
                <a:tc>
                  <a:txBody>
                    <a:bodyPr/>
                    <a:lstStyle/>
                    <a:p>
                      <a:pPr marL="6350" marR="5607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effectLst/>
                        </a:rPr>
                        <a:t> </a:t>
                      </a:r>
                      <a:endParaRPr lang="en-IN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38100" marT="1905" marB="0" anchor="b"/>
                </a:tc>
                <a:extLst>
                  <a:ext uri="{0D108BD9-81ED-4DB2-BD59-A6C34878D82A}">
                    <a16:rowId xmlns:a16="http://schemas.microsoft.com/office/drawing/2014/main" val="1858458821"/>
                  </a:ext>
                </a:extLst>
              </a:tr>
            </a:tbl>
          </a:graphicData>
        </a:graphic>
      </p:graphicFrame>
      <p:pic>
        <p:nvPicPr>
          <p:cNvPr id="1045" name="Picture 48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1" flipV="1">
            <a:off x="7595836" y="1462238"/>
            <a:ext cx="1547813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48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1" flipV="1">
            <a:off x="7595835" y="2006172"/>
            <a:ext cx="15367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48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661" y="2604991"/>
            <a:ext cx="1539875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49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775" y="3344694"/>
            <a:ext cx="1539875" cy="54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49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631" y="4126193"/>
            <a:ext cx="1546225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49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632" y="4875937"/>
            <a:ext cx="1546225" cy="63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49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632" y="5755819"/>
            <a:ext cx="15462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54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u="sng" dirty="0" smtClean="0">
                <a:solidFill>
                  <a:srgbClr val="232323"/>
                </a:solidFill>
                <a:latin typeface="Calibri"/>
              </a:rPr>
              <a:t>Results</a:t>
            </a:r>
            <a:endParaRPr sz="2700" b="1" u="sng" dirty="0">
              <a:solidFill>
                <a:srgbClr val="232323"/>
              </a:solidFill>
              <a:latin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195480"/>
              </p:ext>
            </p:extLst>
          </p:nvPr>
        </p:nvGraphicFramePr>
        <p:xfrm>
          <a:off x="1554481" y="838786"/>
          <a:ext cx="8808414" cy="56940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4623">
                  <a:extLst>
                    <a:ext uri="{9D8B030D-6E8A-4147-A177-3AD203B41FA5}">
                      <a16:colId xmlns:a16="http://schemas.microsoft.com/office/drawing/2014/main" val="1471141250"/>
                    </a:ext>
                  </a:extLst>
                </a:gridCol>
                <a:gridCol w="2204390">
                  <a:extLst>
                    <a:ext uri="{9D8B030D-6E8A-4147-A177-3AD203B41FA5}">
                      <a16:colId xmlns:a16="http://schemas.microsoft.com/office/drawing/2014/main" val="3243901860"/>
                    </a:ext>
                  </a:extLst>
                </a:gridCol>
                <a:gridCol w="2463247">
                  <a:extLst>
                    <a:ext uri="{9D8B030D-6E8A-4147-A177-3AD203B41FA5}">
                      <a16:colId xmlns:a16="http://schemas.microsoft.com/office/drawing/2014/main" val="982035930"/>
                    </a:ext>
                  </a:extLst>
                </a:gridCol>
                <a:gridCol w="3236154">
                  <a:extLst>
                    <a:ext uri="{9D8B030D-6E8A-4147-A177-3AD203B41FA5}">
                      <a16:colId xmlns:a16="http://schemas.microsoft.com/office/drawing/2014/main" val="3307053485"/>
                    </a:ext>
                  </a:extLst>
                </a:gridCol>
              </a:tblGrid>
              <a:tr h="651777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8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bear bottle open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Bottle,0.877,0.813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5607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 anchor="b"/>
                </a:tc>
                <a:extLst>
                  <a:ext uri="{0D108BD9-81ED-4DB2-BD59-A6C34878D82A}">
                    <a16:rowId xmlns:a16="http://schemas.microsoft.com/office/drawing/2014/main" val="3349197704"/>
                  </a:ext>
                </a:extLst>
              </a:tr>
              <a:tr h="801470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9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someone is opening parcel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Person,0.526,0.718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5607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 anchor="b"/>
                </a:tc>
                <a:extLst>
                  <a:ext uri="{0D108BD9-81ED-4DB2-BD59-A6C34878D82A}">
                    <a16:rowId xmlns:a16="http://schemas.microsoft.com/office/drawing/2014/main" val="3929838618"/>
                  </a:ext>
                </a:extLst>
              </a:tr>
              <a:tr h="809349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10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object used to serve wine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Wine Glass,0.914,0.807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5651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 anchor="b"/>
                </a:tc>
                <a:extLst>
                  <a:ext uri="{0D108BD9-81ED-4DB2-BD59-A6C34878D82A}">
                    <a16:rowId xmlns:a16="http://schemas.microsoft.com/office/drawing/2014/main" val="1455447543"/>
                  </a:ext>
                </a:extLst>
              </a:tr>
              <a:tr h="759929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11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2286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substance which contain sugar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Cup,0.869,0.774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5607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 anchor="b"/>
                </a:tc>
                <a:extLst>
                  <a:ext uri="{0D108BD9-81ED-4DB2-BD59-A6C34878D82A}">
                    <a16:rowId xmlns:a16="http://schemas.microsoft.com/office/drawing/2014/main" val="3236311336"/>
                  </a:ext>
                </a:extLst>
              </a:tr>
              <a:tr h="823674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12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2921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item to smear button on bread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Knife,0.905,0.765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5651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 anchor="b"/>
                </a:tc>
                <a:extLst>
                  <a:ext uri="{0D108BD9-81ED-4DB2-BD59-A6C34878D82A}">
                    <a16:rowId xmlns:a16="http://schemas.microsoft.com/office/drawing/2014/main" val="715962248"/>
                  </a:ext>
                </a:extLst>
              </a:tr>
              <a:tr h="895298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13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object that is use to control fire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Fire handpump,0.879,0.763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marR="56515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 anchor="b"/>
                </a:tc>
                <a:extLst>
                  <a:ext uri="{0D108BD9-81ED-4DB2-BD59-A6C34878D82A}">
                    <a16:rowId xmlns:a16="http://schemas.microsoft.com/office/drawing/2014/main" val="3836565456"/>
                  </a:ext>
                </a:extLst>
              </a:tr>
              <a:tr h="952597">
                <a:tc>
                  <a:txBody>
                    <a:bodyPr/>
                    <a:lstStyle/>
                    <a:p>
                      <a:pPr marL="1905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14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something is being placed on pound carpet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</a:rPr>
                        <a:t>Couch,0.932,0.753 </a:t>
                      </a:r>
                      <a:endParaRPr lang="en-IN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tc>
                  <a:txBody>
                    <a:bodyPr/>
                    <a:lstStyle/>
                    <a:p>
                      <a:pPr marL="6350" indent="-635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9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113" marR="32840" marT="1642" marB="0"/>
                </a:tc>
                <a:extLst>
                  <a:ext uri="{0D108BD9-81ED-4DB2-BD59-A6C34878D82A}">
                    <a16:rowId xmlns:a16="http://schemas.microsoft.com/office/drawing/2014/main" val="1480600956"/>
                  </a:ext>
                </a:extLst>
              </a:tr>
            </a:tbl>
          </a:graphicData>
        </a:graphic>
      </p:graphicFrame>
      <p:pic>
        <p:nvPicPr>
          <p:cNvPr id="2055" name="Picture 49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910" y="871942"/>
            <a:ext cx="15462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5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430" y="1588454"/>
            <a:ext cx="1546225" cy="7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0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260" y="2369815"/>
            <a:ext cx="1539875" cy="70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50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910" y="3151653"/>
            <a:ext cx="1546225" cy="66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50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910" y="3919221"/>
            <a:ext cx="1539875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50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910" y="4753927"/>
            <a:ext cx="1539875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5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909" y="5648958"/>
            <a:ext cx="1539875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49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3521"/>
            <a:ext cx="96012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u="sng" dirty="0" smtClean="0">
                <a:solidFill>
                  <a:srgbClr val="232323"/>
                </a:solidFill>
                <a:latin typeface="Calibri"/>
              </a:rPr>
              <a:t>Results</a:t>
            </a:r>
            <a:r>
              <a:rPr lang="en-IN" sz="2700" b="1" u="sng" dirty="0" smtClean="0">
                <a:solidFill>
                  <a:srgbClr val="232323"/>
                </a:solidFill>
                <a:latin typeface="Calibri"/>
              </a:rPr>
              <a:t>(Hardware)</a:t>
            </a:r>
            <a:endParaRPr sz="2700" b="1" u="sng" dirty="0">
              <a:solidFill>
                <a:srgbClr val="232323"/>
              </a:solidFill>
              <a:latin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7" b="33333"/>
          <a:stretch/>
        </p:blipFill>
        <p:spPr>
          <a:xfrm>
            <a:off x="2052320" y="1727200"/>
            <a:ext cx="7457439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58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alibri"/>
              </a:rPr>
              <a:t>Results (contd.) — Deployment Workflow &amp; Target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0000" y="1400000"/>
            <a:ext cx="2700000" cy="10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0000" y="1470000"/>
            <a:ext cx="24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Python YOLO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" y="1870000"/>
            <a:ext cx="246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32323"/>
                </a:solidFill>
                <a:latin typeface="Calibri"/>
              </a:rPr>
              <a:t>PyTorch / TensorFlow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0000" y="1400000"/>
            <a:ext cx="2700000" cy="10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0000" y="1470000"/>
            <a:ext cx="24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ONNX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0000" y="1870000"/>
            <a:ext cx="246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32323"/>
                </a:solidFill>
                <a:latin typeface="Calibri"/>
              </a:rPr>
              <a:t>Framework-independent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000" y="1400000"/>
            <a:ext cx="2700000" cy="10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0000" y="1470000"/>
            <a:ext cx="24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HLS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0000" y="1870000"/>
            <a:ext cx="2460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32323"/>
                </a:solidFill>
                <a:latin typeface="Calibri"/>
              </a:rPr>
              <a:t>ONNX → C/C++ → </a:t>
            </a:r>
            <a:r>
              <a:rPr lang="en-IN" sz="1100" dirty="0" smtClean="0">
                <a:solidFill>
                  <a:srgbClr val="232323"/>
                </a:solidFill>
                <a:latin typeface="Calibri"/>
              </a:rPr>
              <a:t>PYNQ Board</a:t>
            </a:r>
            <a:endParaRPr sz="1100" b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0000" y="290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Calibri"/>
              </a:rPr>
              <a:t>Target hardware &amp; interfaces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00" y="3350000"/>
            <a:ext cx="10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PYNQ-Z2: Xilinx Zynq XC7Z020-1CLG400C SoC (FPGA + ARM Cortex-A9).</a:t>
            </a:r>
          </a:p>
          <a:p>
            <a:pPr>
              <a:spcAft>
                <a:spcPts val="8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On-chip resources: LUT logic, DSP48 slices and BRAM; external DDR3 memory.</a:t>
            </a:r>
          </a:p>
          <a:p>
            <a:pPr>
              <a:spcAft>
                <a:spcPts val="8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VEGA ET1031 RISC-V soft core instantiated in the FPGA fabric for semantic ranking.</a:t>
            </a:r>
          </a:p>
          <a:p>
            <a:pPr>
              <a:spcAft>
                <a:spcPts val="8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Camera/image input → AXI interconnect + VDMA → processing → HDMI display.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alibri"/>
              </a:rPr>
              <a:t>Expected Outcomes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000" y="1400000"/>
            <a:ext cx="5000000" cy="17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Expected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" y="1870000"/>
            <a:ext cx="4760000" cy="11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Calibri"/>
              </a:rPr>
              <a:t>A task-aware edge vision system that combines fast FPGA-based YOLO perception with flexible semantic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0000" y="1400000"/>
            <a:ext cx="5000000" cy="1700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20000" y="1470000"/>
            <a:ext cx="47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5B8C"/>
                </a:solidFill>
                <a:latin typeface="Calibri"/>
              </a:rPr>
              <a:t>Why the split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0000" y="1870000"/>
            <a:ext cx="4760000" cy="11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Calibri"/>
              </a:rPr>
              <a:t>Compute-heavy perception remains in programmable logic, while task reasoning remains software-defined on the RISC-V processor.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" y="3550000"/>
            <a:ext cx="45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Calibri"/>
              </a:rPr>
              <a:t>Next implementation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000" y="40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Synthesize and validate the YOLO hardware pipeline on PYNQ-Z2.</a:t>
            </a:r>
          </a:p>
          <a:p>
            <a:pPr>
              <a:spcAft>
                <a:spcPts val="6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Integrate AXI/VDMA and DDR3 data movement.</a:t>
            </a:r>
          </a:p>
          <a:p>
            <a:pPr>
              <a:spcAft>
                <a:spcPts val="6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Instantiate and validate the VEGA RISC-V semantic-ranking core.</a:t>
            </a:r>
          </a:p>
          <a:p>
            <a:pPr>
              <a:spcAft>
                <a:spcPts val="6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Integrate CLIP embeddings and cosine-similarity ranking.</a:t>
            </a:r>
          </a:p>
          <a:p>
            <a:pPr>
              <a:spcAft>
                <a:spcPts val="600"/>
              </a:spcAft>
              <a:defRPr sz="1500" b="0">
                <a:solidFill>
                  <a:srgbClr val="232323"/>
                </a:solidFill>
                <a:latin typeface="Calibri"/>
              </a:defRPr>
            </a:pPr>
            <a:r>
              <a:t>• Benchmark FPS, latency, power and FPGA resource utilization.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32323"/>
                </a:solidFill>
                <a:latin typeface="Calibri"/>
              </a:rPr>
              <a:t>Potential Applications of the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1200000"/>
            <a:ext cx="10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Calibri"/>
              </a:rPr>
              <a:t>The proposed system combines real-time object detection with task-aware semantic ranking, so it can detect multiple objects and then select the object most relevant to a natural-language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0000" y="2200000"/>
            <a:ext cx="5000000" cy="1250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0000" y="2270000"/>
            <a:ext cx="4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5B8C"/>
                </a:solidFill>
                <a:latin typeface="Calibri"/>
              </a:rPr>
              <a:t>Assistive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000" y="2650000"/>
            <a:ext cx="48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Calibri"/>
              </a:rPr>
              <a:t>“Find something to sit on” → rank chair/sofa above irrelevant objects. Useful for assistive and mobile robots.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0000" y="2200000"/>
            <a:ext cx="5000000" cy="1250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D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0000" y="2270000"/>
            <a:ext cx="4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785A"/>
                </a:solidFill>
                <a:latin typeface="Calibri"/>
              </a:rPr>
              <a:t>Smart surveillance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0" y="2650000"/>
            <a:ext cx="48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Calibri"/>
              </a:rPr>
              <a:t>Operator-defined tasks can prioritize relevant objects/events instead of treating every detection equally.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000" y="3750000"/>
            <a:ext cx="5000000" cy="1250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2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0000" y="3820000"/>
            <a:ext cx="4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822D"/>
                </a:solidFill>
                <a:latin typeface="Calibri"/>
              </a:rPr>
              <a:t>Autonomous vehicles / 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4200000"/>
            <a:ext cx="48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Calibri"/>
              </a:rPr>
              <a:t>Edge detection can identify vehicles, pedestrians and hazards; semantic ranking can prioritize the object relevant to the current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0000" y="3750000"/>
            <a:ext cx="5000000" cy="1250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B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00000" y="3820000"/>
            <a:ext cx="4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5B8C"/>
                </a:solidFill>
                <a:latin typeface="Calibri"/>
              </a:rPr>
              <a:t>Industrial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0" y="4200000"/>
            <a:ext cx="48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Calibri"/>
              </a:rPr>
              <a:t>FPGA-accelerated detection supports low-latency inspection; semantic ranking can focus on the component or defect requested by the operator.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000" y="5300000"/>
            <a:ext cx="5000000" cy="1250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2D7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0000" y="5370000"/>
            <a:ext cx="4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785A"/>
                </a:solidFill>
                <a:latin typeface="Calibri"/>
              </a:rPr>
              <a:t>Smart-home / IoT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000" y="5750000"/>
            <a:ext cx="48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Calibri"/>
              </a:rPr>
              <a:t>Low-power local vision can identify household objects and select the object matching a natural-language request.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00000" y="5300000"/>
            <a:ext cx="5000000" cy="1250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2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0000" y="5370000"/>
            <a:ext cx="4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822D"/>
                </a:solidFill>
                <a:latin typeface="Calibri"/>
              </a:rPr>
              <a:t>Road / infrastructure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000" y="5750000"/>
            <a:ext cx="48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Calibri"/>
              </a:rPr>
              <a:t>Edge detection can support pothole and road-hazard monitoring; task queries can prioritize specific infrastructure hazards.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32323"/>
                </a:solidFill>
                <a:latin typeface="Calibri"/>
              </a:rPr>
              <a:t>Research Literature — Papers 1–4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000" y="13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J. Redmon, S. Divvala, R. Girshick, and A. Farhadi, “You Only Look Once: Unified, Real-Time Object Detection,” in Proc. IEEE Conf. Computer Vision and Pattern Recognition (CVPR), 2016, pp. 779–788, doi: 10.1109/CVPR.2016.91.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000" y="21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2B5B8C"/>
                </a:solidFill>
                <a:latin typeface="Calibri"/>
                <a:hlinkClick r:id="rId2"/>
              </a:rPr>
              <a:t>Paper link: https://doi.org/10.1109/CVPR.2016.91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000" y="25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25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H. Li et al., “An FPGA-Based YOLOv5 Accelerator for Real-Time Industrial Vision Applications,” IEEE Access,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33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5B8C"/>
                </a:solidFill>
                <a:latin typeface="Calibri"/>
                <a:hlinkClick r:id="rId3"/>
              </a:rPr>
              <a:t>Paper link: https://pmc.ncbi.nlm.nih.gov/articles/PMC11434529/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37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00" y="37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E. Emmanuel, F. Lacy, and Y. Ismail, “Optimizing Resource Utilization and Power Efficiency in FPGA-Accelerated YOLOv8 Object Detection Using Vivado High-Level Synthesis (HLS) Tool,” in Proc. 2nd Int. Conf. Artificial Intelligence, Blockchain, and Internet of Things (AIBThings), 2024, pp. 1–4, doi: 10.1109/AIBThings.2024.10863546.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000" y="45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5B8C"/>
                </a:solidFill>
                <a:latin typeface="Calibri"/>
                <a:hlinkClick r:id="rId4"/>
              </a:rPr>
              <a:t>Paper link: https://ieeexplore.ieee.org/document/10863546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" y="49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000" y="49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X. Sha, M. Yanagisawa, and Y. Shi, “An FPGA-Based YOLOv6 Accelerator for High-Throughput and Energy-Efficient Object Detection,” IEICE Trans. Fundamentals, vol. E108-A, no. 3, pp. 473–481, 2025, doi: 10.1587/transfun.2024VLP0009.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000" y="57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5B8C"/>
                </a:solidFill>
                <a:latin typeface="Calibri"/>
                <a:hlinkClick r:id="rId5"/>
              </a:rPr>
              <a:t>Paper link: https://doi.org/10.1587/transfun.2024VLP0009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32323"/>
                </a:solidFill>
                <a:latin typeface="Calibri"/>
              </a:rPr>
              <a:t>Research Literature — Papers 5–8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30000"/>
            <a:ext cx="9601200" cy="50000"/>
          </a:xfrm>
          <a:prstGeom prst="rect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13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000" y="13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Z. Zhang, M. A. Parvez Mahmud, and A. Z. Kouzani, “Resource-constrained FPGA implementation of YOLOv2,” Neural Computing and Applications, vol. 34, no. 19, pp. 16989–17006, 2022, doi: 10.1007/s00521-022-07351-w.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0000" y="21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5B8C"/>
                </a:solidFill>
                <a:latin typeface="Calibri"/>
                <a:hlinkClick r:id="rId2"/>
              </a:rPr>
              <a:t>Paper link: https://doi.org/10.1007/s00521-022-07351-w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000" y="25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25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Z. Zhang and A. Z. Kouzani, “Resource-constrained FPGA/DNN co-design,” Neural Computing and Applications, vol. 33, no. 21, pp. 14741–14751, 2021, doi: 10.1007/s00521-021-06113-4.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33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5B8C"/>
                </a:solidFill>
                <a:latin typeface="Calibri"/>
                <a:hlinkClick r:id="rId3"/>
              </a:rPr>
              <a:t>Paper link: https://doi.org/10.1007/s00521-021-06113-4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37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[7]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00" y="37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W. Qian, Z. Zhu, C. Zhu, W. Luo, and Y. Zhu, “Efficient deployment of Single Shot Multibox Detector network on FPGAs,” VLSI Integration, vol. 99, Art. no. 102255, 2024, doi: 10.1016/j.vlsi.2024.102255.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000" y="45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5B8C"/>
                </a:solidFill>
                <a:latin typeface="Calibri"/>
                <a:hlinkClick r:id="rId4"/>
              </a:rPr>
              <a:t>Paper link: https://doi.org/10.1016/j.vlsi.2024.102255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" y="4950000"/>
            <a:ext cx="4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5B8C"/>
                </a:solidFill>
                <a:latin typeface="Calibri"/>
              </a:rPr>
              <a:t>[8]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000" y="4950000"/>
            <a:ext cx="9900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323"/>
                </a:solidFill>
                <a:latin typeface="Calibri"/>
              </a:rPr>
              <a:t>A. Radford et al., “Learning Transferable Visual Models From Natural Language Supervision,” in Proc. 38th Int. Conf. Machine Learning (ICML), PMLR, vol. 139, pp. 8748–8763, 2021.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000" y="5710000"/>
            <a:ext cx="9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5B8C"/>
                </a:solidFill>
                <a:latin typeface="Calibri"/>
                <a:hlinkClick r:id="rId5"/>
              </a:rPr>
              <a:t>Paper link: https://proceedings.mlr.press/v139/radford21a.html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50000"/>
            <a:ext cx="11091672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192D4B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0" y="34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Calibri"/>
              </a:rPr>
              <a:t>Task-Aware Object Identification using FPGA-Accelerated YOLO and Semantic Ranking on PYNQ-Z2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4300000"/>
            <a:ext cx="9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B5B8C"/>
                </a:solidFill>
                <a:latin typeface="Calibri"/>
              </a:rPr>
              <a:t>Shubh Gupta  •  Aarav Sharma  •  Ankush Kumar Jaiswal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2333</Words>
  <Application>Microsoft Office PowerPoint</Application>
  <PresentationFormat>Widescreen</PresentationFormat>
  <Paragraphs>332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Current Detection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ankush jaiswal</cp:lastModifiedBy>
  <cp:revision>10</cp:revision>
  <dcterms:created xsi:type="dcterms:W3CDTF">2026-08-27T09:57:11Z</dcterms:created>
  <dcterms:modified xsi:type="dcterms:W3CDTF">2026-09-09T05:36:34Z</dcterms:modified>
</cp:coreProperties>
</file>
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84" r:id="rId5"/>
    <p:sldId id="259" r:id="rId6"/>
    <p:sldId id="269" r:id="rId7"/>
    <p:sldId id="270" r:id="rId8"/>
    <p:sldId id="271" r:id="rId9"/>
    <p:sldId id="260" r:id="rId10"/>
    <p:sldId id="272" r:id="rId11"/>
    <p:sldId id="261" r:id="rId12"/>
    <p:sldId id="273" r:id="rId13"/>
    <p:sldId id="274" r:id="rId14"/>
    <p:sldId id="275" r:id="rId15"/>
    <p:sldId id="276" r:id="rId16"/>
    <p:sldId id="277" r:id="rId17"/>
    <p:sldId id="262" r:id="rId18"/>
    <p:sldId id="278" r:id="rId19"/>
    <p:sldId id="279" r:id="rId20"/>
    <p:sldId id="280" r:id="rId21"/>
    <p:sldId id="281" r:id="rId22"/>
    <p:sldId id="282" r:id="rId23"/>
    <p:sldId id="263" r:id="rId24"/>
    <p:sldId id="283" r:id="rId25"/>
    <p:sldId id="264" r:id="rId26"/>
    <p:sldId id="268" r:id="rId27"/>
    <p:sldId id="265" r:id="rId28"/>
    <p:sldId id="266" r:id="rId29"/>
    <p:sldId id="267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Get this slide signed by the guide, scan it and use the scanned copy as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final architecture / block diagram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jpe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88720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Task-Aware Object Identification for Assistive Robotics using PYNQ-Z2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95728"/>
            <a:ext cx="2560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2395728"/>
            <a:ext cx="40233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Shubh Gupta — 23BLC1322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Aarav Sharma — 23BLC1300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Ankush Kumar Jaiswal — 23BLC1179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Prof. Jean Jenifer Nesam J, SENSE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Review-III  ·  28.10.2026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Date: 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WhatsApp Image 2026-10-26 at 12.42.40"/>
          <p:cNvPicPr>
            <a:picLocks noChangeAspect="1"/>
          </p:cNvPicPr>
          <p:nvPr/>
        </p:nvPicPr>
        <p:blipFill>
          <a:blip r:embed="rId1"/>
          <a:srcRect l="7778" t="562" r="7501" b="3776"/>
          <a:stretch>
            <a:fillRect/>
          </a:stretch>
        </p:blipFill>
        <p:spPr>
          <a:xfrm rot="16200000">
            <a:off x="2668270" y="-2733040"/>
            <a:ext cx="6856730" cy="12324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 &amp; Objectives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88720"/>
            <a:ext cx="4572000" cy="452628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"/>
          <p:cNvSpPr txBox="1"/>
          <p:nvPr/>
        </p:nvSpPr>
        <p:spPr>
          <a:xfrm>
            <a:off x="777240" y="135331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2000" b="0" i="0">
                <a:solidFill>
                  <a:srgbClr val="1D2F82"/>
                </a:solidFill>
                <a:latin typeface="Calibri" panose="020F0502020204030204"/>
              </a:rPr>
              <a:t>Project overview</a:t>
            </a:r>
            <a:endParaRPr sz="20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16052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Detectors say </a:t>
            </a: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what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is in a scene; an assistive robot must decide </a:t>
            </a: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which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object fits a request.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  <a:buNone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User: “something to drink from” → robot must pick the cup, not list cup, laptop and person.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  <a:buNone/>
            </a:pP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Model 1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(YOLO detector) proposes candidates; </a:t>
            </a: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Model 2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(CLIP) ranks them against the task text.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1000"/>
              </a:spcAft>
              <a:buNone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Output: one robot-ready </a:t>
            </a: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JSON target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(class, score, box) + annotated image, on the </a:t>
            </a: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PYNQ-Z2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edge board.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1280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2000" b="0" i="0">
                <a:solidFill>
                  <a:srgbClr val="1D2F82"/>
                </a:solidFill>
                <a:latin typeface="Calibri" panose="020F0502020204030204"/>
              </a:rPr>
              <a:t>Objectives and their achievement</a:t>
            </a:r>
            <a:endParaRPr sz="20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5486400" y="1856231"/>
            <a:ext cx="420624" cy="420624"/>
          </a:xfrm>
          <a:prstGeom prst="ellipse">
            <a:avLst/>
          </a:prstGeom>
          <a:solidFill>
            <a:srgbClr val="1D2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80760" y="178308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Detect objects with a YOLO-family detector (Model 1)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" name="status"/>
          <p:cNvSpPr txBox="1"/>
          <p:nvPr/>
        </p:nvSpPr>
        <p:spPr>
          <a:xfrm>
            <a:off x="6080760" y="21122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00" b="0" i="0">
                <a:solidFill>
                  <a:srgbClr val="1E8E4E"/>
                </a:solidFill>
                <a:latin typeface="Calibri" panose="020F0502020204030204"/>
              </a:rPr>
              <a:t>Achieved — 3 interchangeable detectors</a:t>
            </a:r>
            <a:endParaRPr sz="1300" b="0" i="0">
              <a:solidFill>
                <a:srgbClr val="1E8E4E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486400" y="2642616"/>
            <a:ext cx="420624" cy="420624"/>
          </a:xfrm>
          <a:prstGeom prst="ellipse">
            <a:avLst/>
          </a:prstGeom>
          <a:solidFill>
            <a:srgbClr val="1D2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80760" y="2569464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Rank candidates against the task with CLIP (Model 2)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" name="status"/>
          <p:cNvSpPr txBox="1"/>
          <p:nvPr/>
        </p:nvSpPr>
        <p:spPr>
          <a:xfrm>
            <a:off x="6080760" y="289864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00" b="0" i="0">
                <a:solidFill>
                  <a:srgbClr val="1E8E4E"/>
                </a:solidFill>
                <a:latin typeface="Calibri" panose="020F0502020204030204"/>
              </a:rPr>
              <a:t>Achieved — fused crop/label/confidence score</a:t>
            </a:r>
            <a:endParaRPr sz="1300" b="0" i="0">
              <a:solidFill>
                <a:srgbClr val="1E8E4E"/>
              </a:solidFill>
              <a:latin typeface="Calibri" panose="020F050202020403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486400" y="3429000"/>
            <a:ext cx="420624" cy="420624"/>
          </a:xfrm>
          <a:prstGeom prst="ellipse">
            <a:avLst/>
          </a:prstGeom>
          <a:solidFill>
            <a:srgbClr val="1D2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80760" y="3355848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Robot-ready JSON target + annotated image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status"/>
          <p:cNvSpPr txBox="1"/>
          <p:nvPr/>
        </p:nvSpPr>
        <p:spPr>
          <a:xfrm>
            <a:off x="6080760" y="368503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00" b="0" i="0">
                <a:solidFill>
                  <a:srgbClr val="1E8E4E"/>
                </a:solidFill>
                <a:latin typeface="Calibri" panose="020F0502020204030204"/>
              </a:rPr>
              <a:t>Achieved — saved for every run</a:t>
            </a:r>
            <a:endParaRPr sz="1300" b="0" i="0">
              <a:solidFill>
                <a:srgbClr val="1E8E4E"/>
              </a:solidFill>
              <a:latin typeface="Calibri" panose="020F0502020204030204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486400" y="4215384"/>
            <a:ext cx="420624" cy="420624"/>
          </a:xfrm>
          <a:prstGeom prst="ellipse">
            <a:avLst/>
          </a:prstGeom>
          <a:solidFill>
            <a:srgbClr val="1D2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80760" y="4142232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Extend to classroom and room objects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" name="status"/>
          <p:cNvSpPr txBox="1"/>
          <p:nvPr/>
        </p:nvSpPr>
        <p:spPr>
          <a:xfrm>
            <a:off x="6080760" y="447141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00" b="0" i="0">
                <a:solidFill>
                  <a:srgbClr val="1E8E4E"/>
                </a:solidFill>
                <a:latin typeface="Calibri" panose="020F0502020204030204"/>
              </a:rPr>
              <a:t>Achieved — 220-object vocab, 46-class detector</a:t>
            </a:r>
            <a:endParaRPr sz="1300" b="0" i="0">
              <a:solidFill>
                <a:srgbClr val="1E8E4E"/>
              </a:solidFill>
              <a:latin typeface="Calibri" panose="020F0502020204030204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486400" y="5001768"/>
            <a:ext cx="420624" cy="420624"/>
          </a:xfrm>
          <a:prstGeom prst="ellipse">
            <a:avLst/>
          </a:prstGeom>
          <a:solidFill>
            <a:srgbClr val="1D2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80760" y="4928616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Run on PYNQ-Z2 with a demo interface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3" name="status"/>
          <p:cNvSpPr txBox="1"/>
          <p:nvPr/>
        </p:nvSpPr>
        <p:spPr>
          <a:xfrm>
            <a:off x="6080760" y="52578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00" b="0" i="0">
                <a:solidFill>
                  <a:srgbClr val="B96A00"/>
                </a:solidFill>
                <a:latin typeface="Calibri" panose="020F0502020204030204"/>
              </a:rPr>
              <a:t>Pipeline ran on ARM PS; PL benchmark pending</a:t>
            </a:r>
            <a:endParaRPr sz="1300" b="0" i="0">
              <a:solidFill>
                <a:srgbClr val="B96A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Motivation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88720"/>
            <a:ext cx="10195560" cy="123444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978408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Calibri" panose="020F0502020204030204"/>
              </a:rPr>
              <a:t>Problem statement:</a:t>
            </a:r>
            <a:r>
              <a:rPr sz="1600" b="0" i="0">
                <a:solidFill>
                  <a:srgbClr val="000000"/>
                </a:solidFill>
                <a:latin typeface="Calibri" panose="020F0502020204030204"/>
              </a:rPr>
              <a:t> given an RGB image and a free-form natural-language task, identify the </a:t>
            </a:r>
            <a:r>
              <a:rPr sz="1600" b="1" i="0">
                <a:solidFill>
                  <a:srgbClr val="000000"/>
                </a:solidFill>
                <a:latin typeface="Calibri" panose="020F0502020204030204"/>
              </a:rPr>
              <a:t>single object</a:t>
            </a:r>
            <a:r>
              <a:rPr sz="1600" b="0" i="0">
                <a:solidFill>
                  <a:srgbClr val="000000"/>
                </a:solidFill>
                <a:latin typeface="Calibri" panose="020F0502020204030204"/>
              </a:rPr>
              <a:t> that best satisfies the task and return it as a robot-ready target (class, confidence, score, bounding box) — on the PYNQ-Z2 edge board, without cloud services.</a:t>
            </a:r>
            <a:endParaRPr sz="16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697480"/>
            <a:ext cx="5001768" cy="13716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8346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1" i="0">
                <a:solidFill>
                  <a:srgbClr val="1D2F82"/>
                </a:solidFill>
                <a:latin typeface="Calibri" panose="020F0502020204030204"/>
              </a:rPr>
              <a:t>Users describe needs, not class names</a:t>
            </a:r>
            <a:endParaRPr sz="16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3227832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Calibri" panose="020F0502020204030204"/>
              </a:rPr>
              <a:t>“Something to drink from”, not “cup”. The robot must translate intent into an object.</a:t>
            </a:r>
            <a:endParaRPr sz="14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42431" y="2697480"/>
            <a:ext cx="5001768" cy="13716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599" y="28346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1" i="0">
                <a:solidFill>
                  <a:srgbClr val="1D2F82"/>
                </a:solidFill>
                <a:latin typeface="Calibri" panose="020F0502020204030204"/>
              </a:rPr>
              <a:t>Detectors stop at labels</a:t>
            </a:r>
            <a:endParaRPr sz="16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599" y="3227832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Calibri" panose="020F0502020204030204"/>
              </a:rPr>
              <a:t>FPGA YOLO accelerators optimise FPS and FPS/W but never decide which object fits a request.</a:t>
            </a:r>
            <a:endParaRPr sz="14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4233672"/>
            <a:ext cx="5001768" cy="13716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37083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1" i="0">
                <a:solidFill>
                  <a:srgbClr val="1D2F82"/>
                </a:solidFill>
                <a:latin typeface="Calibri" panose="020F0502020204030204"/>
              </a:rPr>
              <a:t>Language-grounded robotics is compute-hungry</a:t>
            </a:r>
            <a:endParaRPr sz="16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9808" y="4764024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Calibri" panose="020F0502020204030204"/>
              </a:rPr>
              <a:t>Open-vocabulary detectors and LLM planners need GPUs or the cloud.</a:t>
            </a:r>
            <a:endParaRPr sz="14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42431" y="4233672"/>
            <a:ext cx="5001768" cy="13716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599" y="437083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1" i="0">
                <a:solidFill>
                  <a:srgbClr val="1D2F82"/>
                </a:solidFill>
                <a:latin typeface="Calibri" panose="020F0502020204030204"/>
              </a:rPr>
              <a:t>Edge deployment matters</a:t>
            </a:r>
            <a:endParaRPr sz="16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599" y="4764024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Calibri" panose="020F0502020204030204"/>
              </a:rPr>
              <a:t>A home or care robot needs low latency, low power and private on-board inference.</a:t>
            </a:r>
            <a:endParaRPr sz="1400" b="0" i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0195560" cy="427939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05840"/>
                <a:gridCol w="3063240"/>
                <a:gridCol w="3108960"/>
                <a:gridCol w="301752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Ref.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Work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Method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Gap relevant to this project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[1], [2]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YOLO, YOLO9000 (2016–17)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Single-stage CNN detector; Tiny YOLOv2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Fixed labels; no task reasoning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[3]–[6]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FPGA YOLOv2/v5/v6/v8 accelerators (2022–25)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Quantised / HLS / dataflow FPGA designs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Detection only, no semantic layer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[7]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FINN (2017)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Quantised NN dataflow on Zynq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 semantic reasoning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[8]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CLIP (2021)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Contrastive image–text pre-training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Heavy for edge devices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[9]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COCO-Tasks (2019)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Graph network over detections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Fixed 14-task list, GPU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[10], [11]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TOIST (2022), CoTDet (2023)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Transformer / LLM affordance prompting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Too heavy; needs large LLM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[12], [13]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OWL-ViT (2022), YOLO-World (2024)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Text-queried open-vocabulary detection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Matches names, not task intent; GPU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[14], [15]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CLIPort (2021), SayCan (2022)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Language-conditioned manipulation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GPU policy / cloud-scale LLM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Gaps &amp; Our Approach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1353312"/>
            <a:ext cx="502920" cy="502920"/>
          </a:xfrm>
          <a:prstGeom prst="ellipse">
            <a:avLst/>
          </a:prstGeom>
          <a:solidFill>
            <a:srgbClr val="1D2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34440" y="126187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1" i="0">
                <a:solidFill>
                  <a:srgbClr val="1D2F82"/>
                </a:solidFill>
                <a:latin typeface="Calibri" panose="020F0502020204030204"/>
              </a:rPr>
              <a:t>Task-driven detection is GPU-bound</a:t>
            </a:r>
            <a:endParaRPr sz="16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COCO-Tasks, TOIST, CoTDet [9]–[11] target desktop GPUs, not low-power FPGA boards.</a:t>
            </a:r>
            <a:endParaRPr sz="135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548640" y="2359152"/>
            <a:ext cx="502920" cy="502920"/>
          </a:xfrm>
          <a:prstGeom prst="ellipse">
            <a:avLst/>
          </a:prstGeom>
          <a:solidFill>
            <a:srgbClr val="1D2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34440" y="226771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1" i="0">
                <a:solidFill>
                  <a:srgbClr val="1D2F82"/>
                </a:solidFill>
                <a:latin typeface="Calibri" panose="020F0502020204030204"/>
              </a:rPr>
              <a:t>FPGA YOLO accelerators stop at labels</a:t>
            </a:r>
            <a:endParaRPr sz="16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4440" y="260604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Accelerators [3]–[7] optimise throughput but never pick the object for a need.</a:t>
            </a:r>
            <a:endParaRPr sz="135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48640" y="3364992"/>
            <a:ext cx="502920" cy="502920"/>
          </a:xfrm>
          <a:prstGeom prst="ellipse">
            <a:avLst/>
          </a:prstGeom>
          <a:solidFill>
            <a:srgbClr val="1D2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34440" y="327355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1" i="0">
                <a:solidFill>
                  <a:srgbClr val="1D2F82"/>
                </a:solidFill>
                <a:latin typeface="Calibri" panose="020F0502020204030204"/>
              </a:rPr>
              <a:t>Language-grounded robotics needs heavy compute</a:t>
            </a:r>
            <a:endParaRPr sz="16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34440" y="361188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OWL-ViT, YOLO-World, CLIPort, SayCan [12]–[15] rely on GPU or cloud.</a:t>
            </a:r>
            <a:endParaRPr sz="135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48640" y="4370832"/>
            <a:ext cx="502920" cy="502920"/>
          </a:xfrm>
          <a:prstGeom prst="ellipse">
            <a:avLst/>
          </a:prstGeom>
          <a:solidFill>
            <a:srgbClr val="1D2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34440" y="427939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1" i="0">
                <a:solidFill>
                  <a:srgbClr val="1D2F82"/>
                </a:solidFill>
                <a:latin typeface="Calibri" panose="020F0502020204030204"/>
              </a:rPr>
              <a:t>No lightweight robot-ready edge pipeline</a:t>
            </a:r>
            <a:endParaRPr sz="16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34440" y="461772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Nothing combines an embedded detector with CLIP ranking and returns one target.</a:t>
            </a:r>
            <a:endParaRPr sz="135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66560" y="1188720"/>
            <a:ext cx="3977639" cy="3977639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13258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700" b="1" i="0">
                <a:solidFill>
                  <a:srgbClr val="1E8E4E"/>
                </a:solidFill>
                <a:latin typeface="Calibri" panose="020F0502020204030204"/>
              </a:rPr>
              <a:t>This project addresses them</a:t>
            </a:r>
            <a:endParaRPr sz="1700" b="1" i="0">
              <a:solidFill>
                <a:srgbClr val="1E8E4E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95160" y="1828800"/>
            <a:ext cx="35661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295" indent="-201295">
              <a:spcAft>
                <a:spcPts val="1000"/>
              </a:spcAft>
              <a:buChar char="•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YOLO detector + CLIP task ranking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000"/>
              </a:spcAft>
              <a:buChar char="•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Accepts any task text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000"/>
              </a:spcAft>
              <a:buChar char="•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Returns </a:t>
            </a: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one JSON target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with a box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000"/>
              </a:spcAft>
              <a:buChar char="•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Runs in Python on the PYNQ-Z2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000"/>
              </a:spcAft>
              <a:buChar char="•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Detector designed for the board’s programmable logic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1bd8b980671249dc9468fb6b13ed9a2153efb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45366"/>
            <a:ext cx="6400800" cy="4001506"/>
          </a:xfrm>
          <a:prstGeom prst="rect">
            <a:avLst/>
          </a:prstGeom>
          <a:ln w="9525">
            <a:solidFill>
              <a:srgbClr val="C8CE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320025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System architecture on the PYNQ-Z2 (Zynq-7000 XC7Z020)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69480" y="1188720"/>
            <a:ext cx="3520440" cy="978408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2801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>
                <a:solidFill>
                  <a:srgbClr val="1D2F82"/>
                </a:solidFill>
                <a:latin typeface="Calibri" panose="020F0502020204030204"/>
              </a:rPr>
              <a:t>Input</a:t>
            </a:r>
            <a:endParaRPr sz="15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52360" y="157276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000000"/>
                </a:solidFill>
                <a:latin typeface="Calibri" panose="020F0502020204030204"/>
              </a:rPr>
              <a:t>Camera RGB frame + the user’s task as text (or speech → text).</a:t>
            </a:r>
            <a:endParaRPr sz="125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69480" y="2304288"/>
            <a:ext cx="3520440" cy="978408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239572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>
                <a:solidFill>
                  <a:srgbClr val="1D2F82"/>
                </a:solidFill>
                <a:latin typeface="Calibri" panose="020F0502020204030204"/>
              </a:rPr>
              <a:t>PL — programmable logic</a:t>
            </a:r>
            <a:endParaRPr sz="15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52360" y="268833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000000"/>
                </a:solidFill>
                <a:latin typeface="Calibri" panose="020F0502020204030204"/>
              </a:rPr>
              <a:t>Detector as a Tiny YOLOv2 INT8 overlay: DSP48 MACs, BRAM line buffers, AXI VDMA.</a:t>
            </a:r>
            <a:endParaRPr sz="125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269480" y="3419856"/>
            <a:ext cx="3520440" cy="978408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351129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>
                <a:solidFill>
                  <a:srgbClr val="1D2F82"/>
                </a:solidFill>
                <a:latin typeface="Calibri" panose="020F0502020204030204"/>
              </a:rPr>
              <a:t>PS — ARM Cortex-A9</a:t>
            </a:r>
            <a:endParaRPr sz="15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52360" y="380390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000000"/>
                </a:solidFill>
                <a:latin typeface="Calibri" panose="020F0502020204030204"/>
              </a:rPr>
              <a:t>Python pipeline: CLIP semantic ranking, selection, orchestration.</a:t>
            </a:r>
            <a:endParaRPr sz="125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269480" y="4535424"/>
            <a:ext cx="3520440" cy="978408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462686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>
                <a:solidFill>
                  <a:srgbClr val="1D2F82"/>
                </a:solidFill>
                <a:latin typeface="Calibri" panose="020F0502020204030204"/>
              </a:rPr>
              <a:t>Output</a:t>
            </a:r>
            <a:endParaRPr sz="15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52360" y="491947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250" b="0" i="0">
                <a:solidFill>
                  <a:srgbClr val="000000"/>
                </a:solidFill>
                <a:latin typeface="Calibri" panose="020F0502020204030204"/>
              </a:rPr>
              <a:t>JSON target + annotated image → robot navigates to / grasps the box centre.</a:t>
            </a:r>
            <a:endParaRPr sz="1250" b="0" i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Work Flow &amp; Output Format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f140a623d2e648000f3977a5b44e147d98d5e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874" y="1097280"/>
            <a:ext cx="789709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1546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700" b="0" i="0">
                <a:solidFill>
                  <a:srgbClr val="1D2F82"/>
                </a:solidFill>
                <a:latin typeface="Calibri" panose="020F0502020204030204"/>
              </a:rPr>
              <a:t>Steps per request</a:t>
            </a:r>
            <a:endParaRPr sz="17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512064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295" indent="-201295">
              <a:spcAft>
                <a:spcPts val="500"/>
              </a:spcAft>
              <a:buAutoNum type="arabicPeriod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Capture frame and task text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500"/>
              </a:spcAft>
              <a:buAutoNum type="arabicPeriod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Open-vocab: build candidate list from the task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500"/>
              </a:spcAft>
              <a:buAutoNum type="arabicPeriod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Run Model 1 detector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500"/>
              </a:spcAft>
              <a:buAutoNum type="arabicPeriod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Filter boxes; CLIP re-labels open-vocab boxes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500"/>
              </a:spcAft>
              <a:buAutoNum type="arabicPeriod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Model 2 fused task-relevance score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500"/>
              </a:spcAft>
              <a:buAutoNum type="arabicPeriod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Select the best; save JSON + annotated image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0" y="3154680"/>
            <a:ext cx="4800600" cy="2606040"/>
          </a:xfrm>
          <a:prstGeom prst="roundRect">
            <a:avLst>
              <a:gd name="adj" fmla="val 6000"/>
            </a:avLst>
          </a:prstGeom>
          <a:solidFill>
            <a:srgbClr val="1E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3246120"/>
            <a:ext cx="448056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  <a:buNone/>
            </a:pPr>
            <a:r>
              <a:rPr sz="1250" b="0" i="0">
                <a:solidFill>
                  <a:srgbClr val="E8ECF8"/>
                </a:solidFill>
                <a:latin typeface="Courier New" panose="02070309020205020404"/>
              </a:rPr>
              <a:t>{ "task": "headphones", "detector": "world",</a:t>
            </a:r>
            <a:endParaRPr sz="1250" b="0" i="0">
              <a:solidFill>
                <a:srgbClr val="E8ECF8"/>
              </a:solidFill>
              <a:latin typeface="Courier New" panose="02070309020205020404"/>
            </a:endParaRPr>
          </a:p>
          <a:p>
            <a:pPr>
              <a:spcAft>
                <a:spcPts val="300"/>
              </a:spcAft>
              <a:buNone/>
            </a:pPr>
            <a:r>
              <a:rPr sz="1250" b="0" i="0">
                <a:solidFill>
                  <a:srgbClr val="E8ECF8"/>
                </a:solidFill>
                <a:latin typeface="Courier New" panose="02070309020205020404"/>
              </a:rPr>
              <a:t>  "selected": { "class_name": "headphones",</a:t>
            </a:r>
            <a:endParaRPr sz="1250" b="0" i="0">
              <a:solidFill>
                <a:srgbClr val="E8ECF8"/>
              </a:solidFill>
              <a:latin typeface="Courier New" panose="02070309020205020404"/>
            </a:endParaRPr>
          </a:p>
          <a:p>
            <a:pPr>
              <a:spcAft>
                <a:spcPts val="300"/>
              </a:spcAft>
              <a:buNone/>
            </a:pPr>
            <a:r>
              <a:rPr sz="1250" b="0" i="0">
                <a:solidFill>
                  <a:srgbClr val="E8ECF8"/>
                </a:solidFill>
                <a:latin typeface="Courier New" panose="02070309020205020404"/>
              </a:rPr>
              <a:t>     "confidence": 0.2001, "score": 0.5257,</a:t>
            </a:r>
            <a:endParaRPr sz="1250" b="0" i="0">
              <a:solidFill>
                <a:srgbClr val="E8ECF8"/>
              </a:solidFill>
              <a:latin typeface="Courier New" panose="02070309020205020404"/>
            </a:endParaRPr>
          </a:p>
          <a:p>
            <a:pPr>
              <a:spcAft>
                <a:spcPts val="300"/>
              </a:spcAft>
              <a:buNone/>
            </a:pPr>
            <a:r>
              <a:rPr sz="1250" b="0" i="0">
                <a:solidFill>
                  <a:srgbClr val="E8ECF8"/>
                </a:solidFill>
                <a:latin typeface="Courier New" panose="02070309020205020404"/>
              </a:rPr>
              <a:t>     "bbox": [644.9, 256.0, 774.8, 469.9] },</a:t>
            </a:r>
            <a:endParaRPr sz="1250" b="0" i="0">
              <a:solidFill>
                <a:srgbClr val="E8ECF8"/>
              </a:solidFill>
              <a:latin typeface="Courier New" panose="02070309020205020404"/>
            </a:endParaRPr>
          </a:p>
          <a:p>
            <a:pPr>
              <a:spcAft>
                <a:spcPts val="300"/>
              </a:spcAft>
              <a:buNone/>
            </a:pPr>
            <a:r>
              <a:rPr sz="1250" b="0" i="0">
                <a:solidFill>
                  <a:srgbClr val="E8ECF8"/>
                </a:solidFill>
                <a:latin typeface="Courier New" panose="02070309020205020404"/>
              </a:rPr>
              <a:t>  "ranked": [ ... ], "elapsed_ms": 3611 }</a:t>
            </a:r>
            <a:endParaRPr sz="1250" b="0" i="0">
              <a:solidFill>
                <a:srgbClr val="E8ECF8"/>
              </a:solidFill>
              <a:latin typeface="Courier New" panose="02070309020205020404"/>
            </a:endParaRPr>
          </a:p>
          <a:p>
            <a:pPr>
              <a:spcAft>
                <a:spcPts val="300"/>
              </a:spcAft>
              <a:buNone/>
            </a:pPr>
            <a:r>
              <a:rPr sz="1200" b="0" i="0">
                <a:solidFill>
                  <a:srgbClr val="9FD8B0"/>
                </a:solidFill>
                <a:latin typeface="Calibri" panose="020F0502020204030204"/>
              </a:rPr>
              <a:t>result.json — box centre → robot navigation / grasp</a:t>
            </a:r>
            <a:endParaRPr sz="1200" b="0" i="0">
              <a:solidFill>
                <a:srgbClr val="9FD8B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Implementation — All Modules (100%)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10195560" cy="16459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103120"/>
                <a:gridCol w="3108960"/>
                <a:gridCol w="2514600"/>
                <a:gridCol w="24688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Model 1 option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Model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Classes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Notes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YOLO · 80 classes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YOLO11n, COCO-pretrained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80 fixed COCO classes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≈ 5.4 MB; ran on the board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Open-vocabulary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YOLO-World v2-S + CLIP re-labelling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Any object named in the task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Host PC only; heaviest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Fine-tuned · classroom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YOLO11n fine-tuned on Open Images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46 classroom/room classes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5.5 MB; suited to the board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154680"/>
            <a:ext cx="4983480" cy="260604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2918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700" b="1" i="0">
                <a:solidFill>
                  <a:srgbClr val="1D2F82"/>
                </a:solidFill>
                <a:latin typeface="Calibri" panose="020F0502020204030204"/>
              </a:rPr>
              <a:t>Model 1 — Object detection</a:t>
            </a:r>
            <a:endParaRPr sz="17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3703320"/>
            <a:ext cx="4617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295" indent="-201295">
              <a:spcAft>
                <a:spcPts val="700"/>
              </a:spcAft>
              <a:buChar char="•"/>
            </a:pPr>
            <a:r>
              <a:rPr sz="1450" b="1" i="0">
                <a:solidFill>
                  <a:srgbClr val="000000"/>
                </a:solidFill>
                <a:latin typeface="Calibri" panose="020F0502020204030204"/>
              </a:rPr>
              <a:t>YOLO11n (COCO)</a:t>
            </a:r>
            <a:r>
              <a:rPr sz="1450" b="0" i="0">
                <a:solidFill>
                  <a:srgbClr val="000000"/>
                </a:solidFill>
                <a:latin typeface="Calibri" panose="020F0502020204030204"/>
              </a:rPr>
              <a:t> — 80 classes, ran on the board at Review-II</a:t>
            </a:r>
            <a:endParaRPr sz="14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700"/>
              </a:spcAft>
              <a:buChar char="•"/>
            </a:pPr>
            <a:r>
              <a:rPr sz="1450" b="1" i="0">
                <a:solidFill>
                  <a:srgbClr val="000000"/>
                </a:solidFill>
                <a:latin typeface="Calibri" panose="020F0502020204030204"/>
              </a:rPr>
              <a:t>YOLO-World</a:t>
            </a:r>
            <a:r>
              <a:rPr sz="1450" b="0" i="0">
                <a:solidFill>
                  <a:srgbClr val="000000"/>
                </a:solidFill>
                <a:latin typeface="Calibri" panose="020F0502020204030204"/>
              </a:rPr>
              <a:t> open-vocabulary — any object named in the task</a:t>
            </a:r>
            <a:endParaRPr sz="14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700"/>
              </a:spcAft>
              <a:buChar char="•"/>
            </a:pPr>
            <a:r>
              <a:rPr sz="1450" b="1" i="0">
                <a:solidFill>
                  <a:srgbClr val="000000"/>
                </a:solidFill>
                <a:latin typeface="Calibri" panose="020F0502020204030204"/>
              </a:rPr>
              <a:t>Fine-tuned YOLO11n</a:t>
            </a:r>
            <a:r>
              <a:rPr sz="1450" b="0" i="0">
                <a:solidFill>
                  <a:srgbClr val="000000"/>
                </a:solidFill>
                <a:latin typeface="Calibri" panose="020F0502020204030204"/>
              </a:rPr>
              <a:t> — 46 classroom/room classes, 5.5 MB, ONNX/INT8-ready</a:t>
            </a:r>
            <a:endParaRPr sz="14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700"/>
              </a:spcAft>
              <a:buChar char="•"/>
            </a:pPr>
            <a:r>
              <a:rPr sz="1450" b="0" i="0">
                <a:solidFill>
                  <a:srgbClr val="000000"/>
                </a:solidFill>
                <a:latin typeface="Calibri" panose="020F0502020204030204"/>
              </a:rPr>
              <a:t>Shared output format, so Model 2 works with any detector</a:t>
            </a:r>
            <a:endParaRPr sz="145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760720" y="3154680"/>
            <a:ext cx="4983480" cy="260604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888" y="32918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700" b="1" i="0">
                <a:solidFill>
                  <a:srgbClr val="1D2F82"/>
                </a:solidFill>
                <a:latin typeface="Calibri" panose="020F0502020204030204"/>
              </a:rPr>
              <a:t>Model 2 — Task-aware ranking (CLIP ViT-B/32)</a:t>
            </a:r>
            <a:endParaRPr sz="17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61888" y="3703320"/>
            <a:ext cx="4617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295" indent="-201295">
              <a:spcAft>
                <a:spcPts val="700"/>
              </a:spcAft>
              <a:buChar char="•"/>
            </a:pPr>
            <a:r>
              <a:rPr sz="1450" b="0" i="0">
                <a:solidFill>
                  <a:srgbClr val="000000"/>
                </a:solidFill>
                <a:latin typeface="Calibri" panose="020F0502020204030204"/>
              </a:rPr>
              <a:t>220-object vocabulary described by </a:t>
            </a:r>
            <a:r>
              <a:rPr sz="1450" b="1" i="0">
                <a:solidFill>
                  <a:srgbClr val="000000"/>
                </a:solidFill>
                <a:latin typeface="Calibri" panose="020F0502020204030204"/>
              </a:rPr>
              <a:t>use</a:t>
            </a:r>
            <a:r>
              <a:rPr sz="1450" b="0" i="0">
                <a:solidFill>
                  <a:srgbClr val="000000"/>
                </a:solidFill>
                <a:latin typeface="Calibri" panose="020F0502020204030204"/>
              </a:rPr>
              <a:t> (affordances)</a:t>
            </a:r>
            <a:endParaRPr sz="14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700"/>
              </a:spcAft>
              <a:buChar char="•"/>
            </a:pPr>
            <a:r>
              <a:rPr sz="1450" b="0" i="0">
                <a:solidFill>
                  <a:srgbClr val="000000"/>
                </a:solidFill>
                <a:latin typeface="Calibri" panose="020F0502020204030204"/>
              </a:rPr>
              <a:t>Hubness correction removes “match-everything” objects</a:t>
            </a:r>
            <a:endParaRPr sz="14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700"/>
              </a:spcAft>
              <a:buChar char="•"/>
            </a:pPr>
            <a:r>
              <a:rPr sz="1450" b="0" i="0">
                <a:solidFill>
                  <a:srgbClr val="000000"/>
                </a:solidFill>
                <a:latin typeface="Calibri" panose="020F0502020204030204"/>
              </a:rPr>
              <a:t>score = </a:t>
            </a:r>
            <a:r>
              <a:rPr sz="1450" b="1" i="0">
                <a:solidFill>
                  <a:srgbClr val="000000"/>
                </a:solidFill>
                <a:latin typeface="Calibri" panose="020F0502020204030204"/>
              </a:rPr>
              <a:t>0.55·crop + 0.25·label + 0.20·conf</a:t>
            </a:r>
            <a:r>
              <a:rPr sz="1450" b="0" i="0">
                <a:solidFill>
                  <a:srgbClr val="000000"/>
                </a:solidFill>
                <a:latin typeface="Calibri" panose="020F0502020204030204"/>
              </a:rPr>
              <a:t>; person ×0.5</a:t>
            </a:r>
            <a:endParaRPr sz="14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700"/>
              </a:spcAft>
              <a:buChar char="•"/>
            </a:pPr>
            <a:r>
              <a:rPr sz="1450" b="0" i="0">
                <a:solidFill>
                  <a:srgbClr val="000000"/>
                </a:solidFill>
                <a:latin typeface="Calibri" panose="020F0502020204030204"/>
              </a:rPr>
              <a:t>CLIP re-labels open-vocabulary boxes (microphone → headphones)</a:t>
            </a:r>
            <a:endParaRPr sz="1450" b="0" i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Implementation — Semantic Ranking in Detail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4983480" cy="46177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6187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1" i="0">
                <a:solidFill>
                  <a:srgbClr val="1D2F82"/>
                </a:solidFill>
                <a:latin typeface="Calibri" panose="020F0502020204030204"/>
              </a:rPr>
              <a:t>From task text to candidates</a:t>
            </a:r>
            <a:endParaRPr sz="16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1691640"/>
            <a:ext cx="46177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295" indent="-201295">
              <a:spcAft>
                <a:spcPts val="7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 panose="020F0502020204030204"/>
              </a:rPr>
              <a:t>220 objects, each described by its use: “duster, used to erase and wipe the board clean”</a:t>
            </a:r>
            <a:endParaRPr sz="14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7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 panose="020F0502020204030204"/>
              </a:rPr>
              <a:t>Top-8 matches form the detector’s class list; person excluded unless asked</a:t>
            </a:r>
            <a:endParaRPr sz="14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1" i="0">
                <a:solidFill>
                  <a:srgbClr val="1D2F82"/>
                </a:solidFill>
                <a:latin typeface="Calibri" panose="020F0502020204030204"/>
              </a:rPr>
              <a:t>Hubness correction</a:t>
            </a:r>
            <a:endParaRPr sz="16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3639312"/>
            <a:ext cx="4617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  <a:buNone/>
            </a:pPr>
            <a:r>
              <a:rPr sz="1500" b="0" i="1">
                <a:solidFill>
                  <a:srgbClr val="000000"/>
                </a:solidFill>
                <a:latin typeface="Calibri" panose="020F0502020204030204"/>
              </a:rPr>
              <a:t>sim′(t, oᵢ) = sim(t, oᵢ) − mean sim(oᵢ, oⱼ)</a:t>
            </a:r>
            <a:endParaRPr sz="1500" b="0" i="1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  <a:buNone/>
            </a:pPr>
            <a:r>
              <a:rPr sz="1400" b="0" i="0">
                <a:solidFill>
                  <a:srgbClr val="000000"/>
                </a:solidFill>
                <a:latin typeface="Calibri" panose="020F0502020204030204"/>
              </a:rPr>
              <a:t>Stops “toy”, “book”, “cake” appearing for every task. Mapping 10/14 → 14/14.</a:t>
            </a:r>
            <a:endParaRPr sz="14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60720" y="1143000"/>
            <a:ext cx="4983480" cy="21031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61888" y="126187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1" i="0">
                <a:solidFill>
                  <a:srgbClr val="1D2F82"/>
                </a:solidFill>
                <a:latin typeface="Calibri" panose="020F0502020204030204"/>
              </a:rPr>
              <a:t>Score fusion</a:t>
            </a:r>
            <a:endParaRPr sz="16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61888" y="1691640"/>
            <a:ext cx="46177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50" b="0" i="1">
                <a:solidFill>
                  <a:srgbClr val="000000"/>
                </a:solidFill>
                <a:latin typeface="Calibri" panose="020F0502020204030204"/>
              </a:rPr>
              <a:t>pᵢ = softmax(100·sim(t, cropᵢ))   qᵢ = softmax(100·sim(t, labelᵢ))</a:t>
            </a:r>
            <a:endParaRPr sz="1350" b="0" i="1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600" b="1" i="1">
                <a:solidFill>
                  <a:srgbClr val="000000"/>
                </a:solidFill>
                <a:latin typeface="Calibri" panose="020F0502020204030204"/>
              </a:rPr>
              <a:t>scoreᵢ = 0.55·pᵢ + 0.25·qᵢ + 0.20·confᵢ</a:t>
            </a:r>
            <a:endParaRPr sz="1600" b="1" i="1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person × 0.5 unless the task mentions a person</a:t>
            </a:r>
            <a:endParaRPr sz="1350" b="0" i="0">
              <a:solidFill>
                <a:srgbClr val="000000"/>
              </a:solidFill>
              <a:latin typeface="Calibri" panose="020F0502020204030204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760720" y="3474720"/>
          <a:ext cx="4983479" cy="21945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17320"/>
                <a:gridCol w="1691640"/>
                <a:gridCol w="1874519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Aspect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Review-II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Final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Task text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14 fixed phrases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user’s own text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Image term weight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35% (raw cosine)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55%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 (softmax)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Confidence weight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≈ 20%, favoured person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20% + person penalty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Wrong labels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kept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CLIP re-labelling</a:t>
                      </a:r>
                      <a:endParaRPr sz="120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Implementation — Classroom Dataset &amp; Fine-Tuning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50aa47a4c6316e27c31cc5f87783975d5f6ac95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64920"/>
            <a:ext cx="5120640" cy="3413759"/>
          </a:xfrm>
          <a:prstGeom prst="rect">
            <a:avLst/>
          </a:prstGeom>
          <a:ln w="9525">
            <a:solidFill>
              <a:srgbClr val="C8CE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4733543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Open Images training samples with their boxes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89320" y="1143000"/>
          <a:ext cx="4754880" cy="18288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80160"/>
                <a:gridCol w="34747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Dataset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Value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Source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Open Images val + test (verified boxes)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Classes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46 classroom / room objects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Images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1,342 (1,167 train · 175 held-out)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Split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MD5 hash of image ID, 15% val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89320" y="3154680"/>
          <a:ext cx="4754880" cy="21945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63040"/>
                <a:gridCol w="1554480"/>
                <a:gridCol w="17373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Training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Run 1 (CPU)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Run 2 (GPU) ✓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Image size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416 px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640 px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Batch / frozen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 / backbone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 / none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Learning rate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0.005 cosine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0.01 cosine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Best epoch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 of 20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 of 34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mAP50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51.8%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53.1%</a:t>
                      </a:r>
                      <a:endParaRPr sz="120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Implementation — PYNQ-Z2 &amp; On-Board Execution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e5e1d6bf097cc680aa010c61dde7bad803b249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8444"/>
            <a:ext cx="5852160" cy="3532471"/>
          </a:xfrm>
          <a:prstGeom prst="rect">
            <a:avLst/>
          </a:prstGeom>
          <a:ln w="9525">
            <a:solidFill>
              <a:srgbClr val="C8CE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4994067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(a) PYNQ-Z2 over Ethernet · (b) orchestrator.py in xilinx@pynq · (c) JSON on board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20840" y="1143000"/>
          <a:ext cx="4069080" cy="236829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737360"/>
                <a:gridCol w="2331720"/>
              </a:tblGrid>
              <a:tr h="3383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Resource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Role in the design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ARM Cortex-A9 ×2 (PS)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Python pipeline, CLIP ranking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53,200 LUTs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Activations, control logic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220 DSP48E1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Convolution MACs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140 × 36 Kb BRAM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Line buffers, weights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512 MB DDR3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Frames, results (AXI DMA)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Ethernet · USB-UART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SSH / Jupyter, serial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20840" y="3657600"/>
            <a:ext cx="4069080" cy="2057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3767328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1" i="0">
                <a:solidFill>
                  <a:srgbClr val="1D2F82"/>
                </a:solidFill>
                <a:latin typeface="Calibri" panose="020F0502020204030204"/>
              </a:rPr>
              <a:t>Hardware path</a:t>
            </a:r>
            <a:endParaRPr sz="16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03720" y="4133087"/>
            <a:ext cx="374903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295" indent="-201295">
              <a:spcAft>
                <a:spcPts val="6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 panose="020F0502020204030204"/>
              </a:rPr>
              <a:t>Full pipeline executed on the ARM PS via SSH</a:t>
            </a:r>
            <a:endParaRPr sz="14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6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 panose="020F0502020204030204"/>
              </a:rPr>
              <a:t>PL: Tiny YOLOv2 INT8 overlay via AXI VDMA</a:t>
            </a:r>
            <a:endParaRPr sz="14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600"/>
              </a:spcAft>
              <a:buChar char="•"/>
            </a:pPr>
            <a:r>
              <a:rPr sz="1400" b="0" i="0">
                <a:solidFill>
                  <a:srgbClr val="000000"/>
                </a:solidFill>
                <a:latin typeface="Calibri" panose="020F0502020204030204"/>
              </a:rPr>
              <a:t>Target ≈ 30 FPS within &lt; 15 W</a:t>
            </a:r>
            <a:endParaRPr sz="1400" b="0" i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Implementation — Integration &amp; Optimisation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4313d1459418f3397707346d8463e7f7dfa1ce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9814"/>
            <a:ext cx="4846320" cy="3566891"/>
          </a:xfrm>
          <a:prstGeom prst="rect">
            <a:avLst/>
          </a:prstGeom>
          <a:ln w="9525">
            <a:solidFill>
              <a:srgbClr val="C8CE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079857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Web dashboard: live camera and identified target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60720" y="11430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800" b="0" i="0">
                <a:solidFill>
                  <a:srgbClr val="1D2F82"/>
                </a:solidFill>
                <a:latin typeface="Calibri" panose="020F0502020204030204"/>
              </a:rPr>
              <a:t>Integration details</a:t>
            </a:r>
            <a:endParaRPr sz="18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155448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295" indent="-201295">
              <a:spcAft>
                <a:spcPts val="500"/>
              </a:spcAft>
              <a:buChar char="•"/>
            </a:pP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Three front-ends on one pipeline: </a:t>
            </a:r>
            <a:r>
              <a:rPr sz="1350" b="1" i="0">
                <a:solidFill>
                  <a:srgbClr val="000000"/>
                </a:solidFill>
                <a:latin typeface="Calibri" panose="020F0502020204030204"/>
              </a:rPr>
              <a:t>OpenCV camera UI</a:t>
            </a: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 (MIL tracker), </a:t>
            </a:r>
            <a:r>
              <a:rPr sz="1350" b="1" i="0">
                <a:solidFill>
                  <a:srgbClr val="000000"/>
                </a:solidFill>
                <a:latin typeface="Calibri" panose="020F0502020204030204"/>
              </a:rPr>
              <a:t>PuTTY/SSH bridge</a:t>
            </a: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, </a:t>
            </a:r>
            <a:r>
              <a:rPr sz="1350" b="1" i="0">
                <a:solidFill>
                  <a:srgbClr val="000000"/>
                </a:solidFill>
                <a:latin typeface="Calibri" panose="020F0502020204030204"/>
              </a:rPr>
              <a:t>web dashboard</a:t>
            </a:r>
            <a:endParaRPr sz="1350" b="1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500"/>
              </a:spcAft>
              <a:buChar char="•"/>
            </a:pP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Every run auto-saved (input, annotated image, result.json)</a:t>
            </a:r>
            <a:endParaRPr sz="13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500"/>
              </a:spcAft>
              <a:buChar char="•"/>
            </a:pP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Live </a:t>
            </a:r>
            <a:r>
              <a:rPr sz="1350" b="1" i="0">
                <a:solidFill>
                  <a:srgbClr val="000000"/>
                </a:solidFill>
                <a:latin typeface="Calibri" panose="020F0502020204030204"/>
              </a:rPr>
              <a:t>PYNQ-Z2 connection indicator</a:t>
            </a: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 (Ethernet / USB-UART)</a:t>
            </a:r>
            <a:endParaRPr sz="135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0" y="31546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800" b="0" i="0">
                <a:solidFill>
                  <a:srgbClr val="1D2F82"/>
                </a:solidFill>
                <a:latin typeface="Calibri" panose="020F0502020204030204"/>
              </a:rPr>
              <a:t>Performance optimisation</a:t>
            </a:r>
            <a:endParaRPr sz="1800" b="0" i="0">
              <a:solidFill>
                <a:srgbClr val="1D2F82"/>
              </a:solidFill>
              <a:latin typeface="Calibri" panose="020F0502020204030204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0" y="3566160"/>
          <a:ext cx="5029200" cy="18288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737360"/>
                <a:gridCol w="1005840"/>
                <a:gridCol w="2286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Issue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Before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After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Open-vocab request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≈ 10 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2–4 s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 (cached CLIP text)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GPU training epoch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 min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≈ 1 min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 (batch 6)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Live video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froze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smooth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 (background thread)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Box on moving object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drifted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tracked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 (MIL tracker)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Solutions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0195560" cy="436168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743200"/>
                <a:gridCol w="3520440"/>
                <a:gridCol w="3931920"/>
              </a:tblGrid>
              <a:tr h="4846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Problem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Cause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Solution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Always selected person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Fixed task phrases; confidence-heavy score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User’s own text; crop term dominant; person penalty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Headphones never found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a COCO class (seen as “hair drier”)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Open-vocabulary detector with task-derived classes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Headphones labelled microphone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YOLO-World confuses similar names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CLIP re-labelling of each box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Tasks mapped to wrong objects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Bare names; “hub” objects in every list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Affordance descriptions + hubness correction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Open-vocab request ≈ 10 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CLIP text model reloaded every request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Cached encoder and vocabulary (2–4 s)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Box drifted on live video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Box drawn at fixed pixels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Background inference + MIL tracker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GPU out of memory, 4 min/epoch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Batch 16 at 640 px &gt; 4 GB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Batch 6 (≈ 1 min/epoch)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Training crashed at epoch 34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Windows paging file exhausted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Best checkpoint (epoch 18) deployed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Testing — Classroom Detector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2496312" cy="11430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222199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200" b="0" i="0">
                <a:solidFill>
                  <a:srgbClr val="1D2F82"/>
                </a:solidFill>
                <a:latin typeface="Calibri" panose="020F0502020204030204"/>
              </a:rPr>
              <a:t>53.1%</a:t>
            </a:r>
            <a:endParaRPr sz="32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2221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mAP50 (held-out)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27832" y="1143000"/>
            <a:ext cx="2496312" cy="11430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1234440"/>
            <a:ext cx="222199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200" b="0" i="0">
                <a:solidFill>
                  <a:srgbClr val="1D2F82"/>
                </a:solidFill>
                <a:latin typeface="Calibri" panose="020F0502020204030204"/>
              </a:rPr>
              <a:t>40.6%</a:t>
            </a:r>
            <a:endParaRPr sz="32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64992" y="1828800"/>
            <a:ext cx="2221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mAP50-95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07024" y="1143000"/>
            <a:ext cx="2496312" cy="11430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44184" y="1234440"/>
            <a:ext cx="222199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200" b="0" i="0">
                <a:solidFill>
                  <a:srgbClr val="1D2F82"/>
                </a:solidFill>
                <a:latin typeface="Calibri" panose="020F0502020204030204"/>
              </a:rPr>
              <a:t>46</a:t>
            </a:r>
            <a:endParaRPr sz="32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44184" y="1828800"/>
            <a:ext cx="2221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classroom &amp; room classes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586216" y="1143000"/>
            <a:ext cx="2496312" cy="11430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23376" y="1234440"/>
            <a:ext cx="222199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200" b="0" i="0">
                <a:solidFill>
                  <a:srgbClr val="1D2F82"/>
                </a:solidFill>
                <a:latin typeface="Calibri" panose="020F0502020204030204"/>
              </a:rPr>
              <a:t>1,342</a:t>
            </a:r>
            <a:endParaRPr sz="32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23376" y="1828800"/>
            <a:ext cx="2221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training + validation images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  <p:pic>
        <p:nvPicPr>
          <p:cNvPr id="17" name="Picture 16" descr="d4e587741fa2582e0fea202b2d5ae804334df2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8593"/>
            <a:ext cx="5120640" cy="2918093"/>
          </a:xfrm>
          <a:prstGeom prst="rect">
            <a:avLst/>
          </a:prstGeom>
          <a:ln w="9525">
            <a:solidFill>
              <a:srgbClr val="C8CEE0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48640" y="549155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Validation mAP50 per epoch — CPU vs GPU run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989320" y="2514600"/>
          <a:ext cx="4754880" cy="197510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71600"/>
                <a:gridCol w="914400"/>
                <a:gridCol w="1554480"/>
                <a:gridCol w="9144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Best classes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AP50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Worst classes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AP50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lamp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99.5%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window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5.1%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light switch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99.5%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desk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5.4%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mouse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99.5%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box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10.8%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envelope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99.5%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microphone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11.7%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ceiling fan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94.5%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table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14.8%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989320" y="461772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Calibri" panose="020F0502020204030204"/>
              </a:rPr>
              <a:t>Compact, distinctive objects are near-perfect; large, context-dependent ones (desk, window, table) are weak because they are often unlabelled in Open Images.</a:t>
            </a:r>
            <a:endParaRPr sz="1250" b="0" i="0">
              <a:solidFill>
                <a:srgbClr val="59595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Testing — Per-Class Accuracy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377706f07c73721486d65e4104d90a7acd1a07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11" y="1097280"/>
            <a:ext cx="3832296" cy="4572000"/>
          </a:xfrm>
          <a:prstGeom prst="rect">
            <a:avLst/>
          </a:prstGeom>
          <a:ln w="9525">
            <a:solidFill>
              <a:srgbClr val="C8CE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35611" y="5705856"/>
            <a:ext cx="38322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AP50 for all 46 classes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  <p:pic>
        <p:nvPicPr>
          <p:cNvPr id="7" name="Picture 6" descr="1008659accc5f2e7396e41ca9707bbc2d98d96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79" y="1097280"/>
            <a:ext cx="4937760" cy="3291840"/>
          </a:xfrm>
          <a:prstGeom prst="rect">
            <a:avLst/>
          </a:prstGeom>
          <a:ln w="9525">
            <a:solidFill>
              <a:srgbClr val="C8CE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40679" y="442569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Precision–recall curves (thick: mean)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74920" y="4800600"/>
            <a:ext cx="5669280" cy="96012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4846320"/>
            <a:ext cx="5349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Calculator, envelope, mouse, bottle, lamp, light switch, ceiling fan: </a:t>
            </a:r>
            <a:r>
              <a:rPr sz="1300" b="1" i="0">
                <a:solidFill>
                  <a:srgbClr val="000000"/>
                </a:solidFill>
                <a:latin typeface="Calibri" panose="020F0502020204030204"/>
              </a:rPr>
              <a:t>AP50 &gt; 94%</a:t>
            </a: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. Desk, window, door, table, box, bench: </a:t>
            </a:r>
            <a:r>
              <a:rPr sz="1300" b="1" i="0">
                <a:solidFill>
                  <a:srgbClr val="000000"/>
                </a:solidFill>
                <a:latin typeface="Calibri" panose="020F0502020204030204"/>
              </a:rPr>
              <a:t>&lt; 20%</a:t>
            </a: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 — large, ambiguous, often unlabelled.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Testing — Task Mapping &amp; End-to-End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200" b="0" i="0">
                <a:solidFill>
                  <a:srgbClr val="1E8E4E"/>
                </a:solidFill>
                <a:latin typeface="Calibri" panose="020F0502020204030204"/>
              </a:rPr>
              <a:t>28 / 28</a:t>
            </a:r>
            <a:endParaRPr sz="3200" b="0" i="0">
              <a:solidFill>
                <a:srgbClr val="1E8E4E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task prompts mapped (top-1: 15 · top-3: 24)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06240" y="11430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23444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200" b="0" i="0">
                <a:solidFill>
                  <a:srgbClr val="1E8E4E"/>
                </a:solidFill>
                <a:latin typeface="Calibri" panose="020F0502020204030204"/>
              </a:rPr>
              <a:t>10 / 12</a:t>
            </a:r>
            <a:endParaRPr sz="3200" b="0" i="0">
              <a:solidFill>
                <a:srgbClr val="1E8E4E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43400" y="1828800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real-world requests correct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63840" y="1143000"/>
            <a:ext cx="2880360" cy="11430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23444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3200" b="0" i="0">
                <a:solidFill>
                  <a:srgbClr val="1D2F82"/>
                </a:solidFill>
                <a:latin typeface="Calibri" panose="020F0502020204030204"/>
              </a:rPr>
              <a:t>1.2 s</a:t>
            </a:r>
            <a:endParaRPr sz="32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01000" y="182880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per request, classroom detector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1D2F82"/>
                </a:solidFill>
                <a:latin typeface="Calibri" panose="020F0502020204030204"/>
              </a:rPr>
              <a:t>Headphones case: “something used to hear music”</a:t>
            </a:r>
            <a:endParaRPr sz="1600" b="0" i="0">
              <a:solidFill>
                <a:srgbClr val="1D2F82"/>
              </a:solidFill>
              <a:latin typeface="Calibri" panose="020F0502020204030204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2971800"/>
          <a:ext cx="5120640" cy="18288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80160"/>
                <a:gridCol w="1828800"/>
                <a:gridCol w="20116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Stage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Review-II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Final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Detector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person · “hair drier”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box on headphones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Task used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“step on something”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user’s own text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CLIP re-label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—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microphone → headphones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Selected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person ✗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headphones ✓</a:t>
                      </a:r>
                      <a:endParaRPr sz="120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035040" y="25603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600" b="0" i="0">
                <a:solidFill>
                  <a:srgbClr val="1D2F82"/>
                </a:solidFill>
                <a:latin typeface="Calibri" panose="020F0502020204030204"/>
              </a:rPr>
              <a:t>Median time per request (host CPU)</a:t>
            </a:r>
            <a:endParaRPr sz="1600" b="0" i="0">
              <a:solidFill>
                <a:srgbClr val="1D2F82"/>
              </a:solidFill>
              <a:latin typeface="Calibri" panose="020F0502020204030204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35040" y="2971800"/>
          <a:ext cx="4709160" cy="14630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828800"/>
                <a:gridCol w="731520"/>
                <a:gridCol w="2148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Model 1 option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Time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On board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YOLO · 80 classes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1.8 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Yes — ran at Review-II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Open-vocabulary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4.4 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 — host only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Fine-tuned classroom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1.2 s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Designed (ONNX/INT8)</a:t>
                      </a:r>
                      <a:endParaRPr sz="12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035040" y="4526280"/>
            <a:ext cx="4709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Prompts were written by the team, so these are representative requests, not an independent benchmark.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Testing — Task-to-Object Mapping (28 Prompts)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5001768" cy="43205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926080"/>
                <a:gridCol w="1417320"/>
                <a:gridCol w="658368"/>
              </a:tblGrid>
              <a:tr h="2880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Everyday tasks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Expected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Rank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used to hear music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headphones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 want to listen to music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headphones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dry my hands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towel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drink from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cup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sit on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chair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 need to call someone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cell phone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 used to serve wine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wine glass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cut paper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scissors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 want to read something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book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tell the time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clock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 want to brush my teeth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toothbrush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write with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 need to see clearly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glasses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carry my things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backpack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42431" y="1097280"/>
          <a:ext cx="5001768" cy="43205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926080"/>
                <a:gridCol w="1417320"/>
                <a:gridCol w="658368"/>
              </a:tblGrid>
              <a:tr h="2880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Classroom tasks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Expected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Rank</a:t>
                      </a:r>
                      <a:endParaRPr sz="11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erase the board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duster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write on the wall for teaching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whiteboard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show slides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projector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measure a line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ruler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sharpen my pencil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sharpener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rub out a mistake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eraser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print documents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printer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store files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 drive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show my identity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id card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cool the room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ceiling fan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protect my head while riding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helmet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clean my hands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hand sanitizer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something to put my books on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bookshelf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 place to sit and study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desk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sz="11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0195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250" b="0" i="0">
                <a:solidFill>
                  <a:srgbClr val="595959"/>
                </a:solidFill>
                <a:latin typeface="Calibri" panose="020F0502020204030204"/>
              </a:rPr>
              <a:t>All 28 expected objects reach the 8-object candidate list · rank 1 for 15 · top-3 for 24. Model 2 makes the final choice from the image.</a:t>
            </a:r>
            <a:endParaRPr sz="1250" b="0" i="0">
              <a:solidFill>
                <a:srgbClr val="59595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Testing — Real-World Scenes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6870366c7c5f3bf1387dcb838da3a9147154cc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25352"/>
            <a:ext cx="5577840" cy="3447174"/>
          </a:xfrm>
          <a:prstGeom prst="rect">
            <a:avLst/>
          </a:prstGeom>
          <a:ln w="9525">
            <a:solidFill>
              <a:srgbClr val="C8CE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4727391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Hostel room, live webcam: fan, clothes, headphones, bottle — all correct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  <p:pic>
        <p:nvPicPr>
          <p:cNvPr id="7" name="Picture 6" descr="05b59f2830c6963e25e62d4fabe758a65acdef6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3534"/>
            <a:ext cx="4389120" cy="3150810"/>
          </a:xfrm>
          <a:prstGeom prst="rect">
            <a:avLst/>
          </a:prstGeom>
          <a:ln w="9525">
            <a:solidFill>
              <a:srgbClr val="C8CE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355080" y="4579209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Computer lab &amp; classroom photographs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5074920"/>
            <a:ext cx="10195560" cy="6858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50" b="1" i="0">
                <a:solidFill>
                  <a:srgbClr val="000000"/>
                </a:solidFill>
                <a:latin typeface="Calibri" panose="020F0502020204030204"/>
              </a:rPr>
              <a:t>10 of 12 correct.</a:t>
            </a: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 Fire extinguisher found although not in the vocabulary. Failures: ceiling fan boxed but re-labelled “microphone”; “hair” not detected.</a:t>
            </a:r>
            <a:endParaRPr sz="1350" b="0" i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— Failure Cases &amp; Discussion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pic>
        <p:nvPicPr>
          <p:cNvPr id="5" name="Picture 4" descr="6953847c1a9abe9f98926a46ec1fe7bd2b49d4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76853"/>
            <a:ext cx="5120640" cy="2218292"/>
          </a:xfrm>
          <a:prstGeom prst="rect">
            <a:avLst/>
          </a:prstGeom>
          <a:ln w="9525">
            <a:solidFill>
              <a:srgbClr val="C8CE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344086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(a) fan boxed, re-labelled “microphone” · (b) no detection for “hair”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295" indent="-201295">
              <a:spcAft>
                <a:spcPts val="600"/>
              </a:spcAft>
              <a:buChar char="•"/>
            </a:pP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Tight crop of the fan hub looks like a microphone head → widen crops before re-labelling</a:t>
            </a:r>
            <a:endParaRPr sz="13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600"/>
              </a:spcAft>
              <a:buChar char="•"/>
            </a:pP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“someone digs hole” → person selected: the needed object (shovel) is not visible</a:t>
            </a:r>
            <a:endParaRPr sz="13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600"/>
              </a:spcAft>
              <a:buChar char="•"/>
            </a:pP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Domain gap: headphones scored 0.017 on one webcam frame</a:t>
            </a:r>
            <a:endParaRPr sz="135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89320" y="1143000"/>
            <a:ext cx="4754880" cy="1024128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52728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>
                <a:solidFill>
                  <a:srgbClr val="1D2F82"/>
                </a:solidFill>
                <a:latin typeface="Calibri" panose="020F0502020204030204"/>
              </a:rPr>
              <a:t>Image crop is the strongest signal</a:t>
            </a:r>
            <a:endParaRPr sz="15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72200" y="1618488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Making it dominant removed the person bias.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89320" y="2304288"/>
            <a:ext cx="4754880" cy="1024128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414016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>
                <a:solidFill>
                  <a:srgbClr val="1D2F82"/>
                </a:solidFill>
                <a:latin typeface="Calibri" panose="020F0502020204030204"/>
              </a:rPr>
              <a:t>Describe objects by their use</a:t>
            </a:r>
            <a:endParaRPr sz="15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72200" y="2779776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Affordances + hubness: 10/14 → 14/14, generalised to 28.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89320" y="3465576"/>
            <a:ext cx="4754880" cy="1024128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57530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>
                <a:solidFill>
                  <a:srgbClr val="1D2F82"/>
                </a:solidFill>
                <a:latin typeface="Calibri" panose="020F0502020204030204"/>
              </a:rPr>
              <a:t>Open vocabulary widens coverage</a:t>
            </a:r>
            <a:endParaRPr sz="15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941064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Headphones, curtains, fire extinguisher — but ~3.5× slower, host only.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989320" y="4626864"/>
            <a:ext cx="4754880" cy="1024128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736592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>
                <a:solidFill>
                  <a:srgbClr val="1D2F82"/>
                </a:solidFill>
                <a:latin typeface="Calibri" panose="020F0502020204030204"/>
              </a:rPr>
              <a:t>Fine-tuning gives a deployable model</a:t>
            </a:r>
            <a:endParaRPr sz="15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72200" y="5102352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53.1% mAP50, 5.5 MB, ONNX/INT8-ready for the PL.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— Comparison with Existing Solutions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195560" cy="409651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377440"/>
                <a:gridCol w="1691640"/>
                <a:gridCol w="1417320"/>
                <a:gridCol w="1508760"/>
                <a:gridCol w="1600200"/>
                <a:gridCol w="16002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Approach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Input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Free-form task text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Objects outside a fixed list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One robot-ready target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Runs on embedded board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YOLO / Tiny YOLOv2 [1], [2]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Image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 — list of labels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Partly (tiny variants)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FPGA YOLO accelerators [3]–[7]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Image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 — list of labels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Yes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COCO-Tasks [9], TOIST [10]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Image + 1 of 14 tasks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Yes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 — GPU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CoTDet [11]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Image + 1 of 14 tasks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Yes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 — GPU + LLM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OWL-ViT [12], YOLO-World [13]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Image + object names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 — names only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Yes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 — all matches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 — GPU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CLIPort [14], SayCan [15]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Image + instruction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Yes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Partly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Action policy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 — GPU / cloud</a:t>
                      </a:r>
                      <a:endParaRPr sz="135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This work</a:t>
                      </a:r>
                      <a:endParaRPr sz="135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Image + any task text</a:t>
                      </a:r>
                      <a:endParaRPr sz="135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Yes</a:t>
                      </a:r>
                      <a:endParaRPr sz="135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Yes</a:t>
                      </a:r>
                      <a:endParaRPr sz="135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Yes — JSON + box</a:t>
                      </a:r>
                      <a:endParaRPr sz="135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Yes — ran on PYNQ-Z2</a:t>
                      </a:r>
                      <a:endParaRPr sz="135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49240"/>
            <a:ext cx="10195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200" b="0" i="0">
                <a:solidFill>
                  <a:srgbClr val="595959"/>
                </a:solidFill>
                <a:latin typeface="Calibri" panose="020F0502020204030204"/>
              </a:rPr>
              <a:t>[9]–[11] report accuracy on the COCO-Tasks benchmark, which was not used here, so the comparison is on capability rather than a shared accuracy number.</a:t>
            </a:r>
            <a:endParaRPr sz="1200" b="0" i="0">
              <a:solidFill>
                <a:srgbClr val="59595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— Final System vs Review-II Baseline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6035040" cy="386791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377440"/>
                <a:gridCol w="1645920"/>
                <a:gridCol w="201168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Measure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Review-II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Final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1D2F8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Task representation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14 fixed phrases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user’s own text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Prompt mapping (orig. 14)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 / 14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14 / 14</a:t>
                      </a:r>
                      <a:endParaRPr sz="130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Prompt mapping (all 28)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—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28 / 28</a:t>
                      </a:r>
                      <a:endParaRPr sz="130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Objects outside COCO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detectable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detected</a:t>
                      </a:r>
                      <a:endParaRPr sz="130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Headphones case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person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headphones</a:t>
                      </a:r>
                      <a:endParaRPr sz="130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Real-world requests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—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 / 12</a:t>
                      </a:r>
                      <a:endParaRPr sz="130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Classroom detector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none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53.1% mAP50</a:t>
                      </a:r>
                      <a:endParaRPr sz="130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Open-vocab request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≈ 10 s</a:t>
                      </a:r>
                      <a:endParaRPr sz="1300" b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2–4 s</a:t>
                      </a:r>
                      <a:endParaRPr sz="1300" b="1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73152" marR="73152" marT="27432" marB="27432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86903005b88bc3b40d105ecb2e77dc53d2bf18b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72340"/>
            <a:ext cx="3886200" cy="2124598"/>
          </a:xfrm>
          <a:prstGeom prst="rect">
            <a:avLst/>
          </a:prstGeom>
          <a:ln w="9525">
            <a:solidFill>
              <a:srgbClr val="C8CEE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858000" y="3951803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Review-II test set: label-level reasoning picked person / toilet for some tasks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&amp; Video Demonstration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14300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800" b="0" i="0">
                <a:solidFill>
                  <a:srgbClr val="1D2F82"/>
                </a:solidFill>
                <a:latin typeface="Calibri" panose="020F0502020204030204"/>
              </a:rPr>
              <a:t>Live demonstration plan</a:t>
            </a:r>
            <a:endParaRPr sz="18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57784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295" indent="-201295">
              <a:spcAft>
                <a:spcPts val="1000"/>
              </a:spcAft>
              <a:buAutoNum type="arabicPeriod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Start the dashboard; show the PYNQ-Z2 indicator turn green over Ethernet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000"/>
              </a:spcAft>
              <a:buAutoNum type="arabicPeriod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Live webcam: ask “something to drink from” → bottle selected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000"/>
              </a:spcAft>
              <a:buAutoNum type="arabicPeriod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Switch detectors (COCO / open-vocabulary / classroom) and read the ranking log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000"/>
              </a:spcAft>
              <a:buAutoNum type="arabicPeriod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Run orchestrator.py on the board through PuTTY → JSON target printed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000"/>
              </a:spcAft>
              <a:buAutoNum type="arabicPeriod"/>
            </a:pP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Show saved results and the results charts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5577840" cy="11430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45152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350" b="1" i="0">
                <a:solidFill>
                  <a:srgbClr val="000000"/>
                </a:solidFill>
                <a:latin typeface="Calibri" panose="020F0502020204030204"/>
              </a:rPr>
              <a:t>Video demonstration:</a:t>
            </a:r>
            <a:r>
              <a:rPr sz="1350" b="0" i="0">
                <a:solidFill>
                  <a:srgbClr val="000000"/>
                </a:solidFill>
                <a:latin typeface="Calibri" panose="020F0502020204030204"/>
              </a:rPr>
              <a:t> four recordings of the on-board run are embedded in the dashboard’s Videos section (backup if the live board link fails).</a:t>
            </a:r>
            <a:endParaRPr sz="1350" b="0" i="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9" name="Picture 8" descr="5b2228d6165b966ed8278a9c3dc89cedb09755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719" y="1188720"/>
            <a:ext cx="4261281" cy="2286000"/>
          </a:xfrm>
          <a:prstGeom prst="rect">
            <a:avLst/>
          </a:prstGeom>
          <a:ln w="9525">
            <a:solidFill>
              <a:srgbClr val="C8CEE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64719" y="3520439"/>
            <a:ext cx="426128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Desktop camera UI with task box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  <p:pic>
        <p:nvPicPr>
          <p:cNvPr id="11" name="Picture 10" descr="1eef8eee9ee9fb35195c7937ae0a5b9ee9a054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707" y="3886200"/>
            <a:ext cx="3379304" cy="1554480"/>
          </a:xfrm>
          <a:prstGeom prst="rect">
            <a:avLst/>
          </a:prstGeom>
          <a:ln w="9525">
            <a:solidFill>
              <a:srgbClr val="C8CEE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905707" y="5486400"/>
            <a:ext cx="33793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Dashboard header with board connection indicator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Standards Contributed &amp; SDG Mapping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1430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800" b="0" i="0">
                <a:solidFill>
                  <a:srgbClr val="1D2F82"/>
                </a:solidFill>
                <a:latin typeface="Calibri" panose="020F0502020204030204"/>
              </a:rPr>
              <a:t>Standards followed</a:t>
            </a:r>
            <a:endParaRPr sz="18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1206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295" indent="-201295">
              <a:spcAft>
                <a:spcPts val="13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ISO/IEC 22989, 23053, 23894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— AI terms, ML life cycle, AI risk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3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ISO 13482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— safety of personal care robots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3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IEEE 1149.1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(JTAG) · </a:t>
            </a: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AMBA AXI4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— board programming, PS–PL link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3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IEEE 1364/1800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HDL · </a:t>
            </a: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IEEE 754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— PL design, FP32 vs INT8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3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IEEE 802.3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· </a:t>
            </a: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RFC 4253 SSH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· </a:t>
            </a: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RFC 9110 HTTP</a:t>
            </a:r>
            <a:endParaRPr sz="1500" b="1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3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RFC 8259 JSON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· </a:t>
            </a: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ONNX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— result and model formats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300"/>
              </a:spcAft>
              <a:buChar char="•"/>
            </a:pP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ISO/IEC 27001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· </a:t>
            </a:r>
            <a:r>
              <a:rPr sz="1500" b="1" i="0">
                <a:solidFill>
                  <a:srgbClr val="000000"/>
                </a:solidFill>
                <a:latin typeface="Calibri" panose="020F0502020204030204"/>
              </a:rPr>
              <a:t>IEC 62368-1</a:t>
            </a:r>
            <a:r>
              <a:rPr sz="1500" b="0" i="0">
                <a:solidFill>
                  <a:srgbClr val="000000"/>
                </a:solidFill>
                <a:latin typeface="Calibri" panose="020F0502020204030204"/>
              </a:rPr>
              <a:t> — data security, equipment safety</a:t>
            </a:r>
            <a:endParaRPr sz="15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5040" y="11430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800" b="0" i="0">
                <a:solidFill>
                  <a:srgbClr val="1D2F82"/>
                </a:solidFill>
                <a:latin typeface="Calibri" panose="020F0502020204030204"/>
              </a:rPr>
              <a:t>SDG mapping</a:t>
            </a:r>
            <a:endParaRPr sz="18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4709160" cy="914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627632"/>
            <a:ext cx="914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700" b="1" i="0">
                <a:solidFill>
                  <a:srgbClr val="1D2F82"/>
                </a:solidFill>
                <a:latin typeface="Calibri" panose="020F0502020204030204"/>
              </a:rPr>
              <a:t>SDG 3</a:t>
            </a:r>
            <a:endParaRPr sz="17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2320" y="164592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sz="1250" b="1" i="0">
                <a:solidFill>
                  <a:srgbClr val="000000"/>
                </a:solidFill>
                <a:latin typeface="Calibri" panose="020F0502020204030204"/>
              </a:rPr>
              <a:t>Good Health &amp; Well-being</a:t>
            </a:r>
            <a:endParaRPr sz="1250" b="1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200"/>
              </a:spcAft>
              <a:buNone/>
            </a:pPr>
            <a:r>
              <a:rPr sz="1250" b="0" i="0">
                <a:solidFill>
                  <a:srgbClr val="000000"/>
                </a:solidFill>
                <a:latin typeface="Calibri" panose="020F0502020204030204"/>
              </a:rPr>
              <a:t>Helps elderly and mobility-impaired people fetch everyday objects</a:t>
            </a:r>
            <a:endParaRPr sz="125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35040" y="2587752"/>
            <a:ext cx="4709160" cy="914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2660904"/>
            <a:ext cx="914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700" b="1" i="0">
                <a:solidFill>
                  <a:srgbClr val="1D2F82"/>
                </a:solidFill>
                <a:latin typeface="Calibri" panose="020F0502020204030204"/>
              </a:rPr>
              <a:t>SDG 10</a:t>
            </a:r>
            <a:endParaRPr sz="17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0" y="2679192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sz="1250" b="1" i="0">
                <a:solidFill>
                  <a:srgbClr val="000000"/>
                </a:solidFill>
                <a:latin typeface="Calibri" panose="020F0502020204030204"/>
              </a:rPr>
              <a:t>Reduced Inequalities</a:t>
            </a:r>
            <a:endParaRPr sz="1250" b="1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200"/>
              </a:spcAft>
              <a:buNone/>
            </a:pPr>
            <a:r>
              <a:rPr sz="1250" b="0" i="0">
                <a:solidFill>
                  <a:srgbClr val="000000"/>
                </a:solidFill>
                <a:latin typeface="Calibri" panose="020F0502020204030204"/>
              </a:rPr>
              <a:t>Natural-language control and low-cost hardware widen access</a:t>
            </a:r>
            <a:endParaRPr sz="125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35040" y="3621024"/>
            <a:ext cx="4709160" cy="914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3694176"/>
            <a:ext cx="914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700" b="1" i="0">
                <a:solidFill>
                  <a:srgbClr val="1D2F82"/>
                </a:solidFill>
                <a:latin typeface="Calibri" panose="020F0502020204030204"/>
              </a:rPr>
              <a:t>SDG 9</a:t>
            </a:r>
            <a:endParaRPr sz="17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0" y="3712463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sz="1250" b="1" i="0">
                <a:solidFill>
                  <a:srgbClr val="000000"/>
                </a:solidFill>
                <a:latin typeface="Calibri" panose="020F0502020204030204"/>
              </a:rPr>
              <a:t>Industry, Innovation &amp; Infrastructure</a:t>
            </a:r>
            <a:endParaRPr sz="1250" b="1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200"/>
              </a:spcAft>
              <a:buNone/>
            </a:pPr>
            <a:r>
              <a:rPr sz="1250" b="0" i="0">
                <a:solidFill>
                  <a:srgbClr val="000000"/>
                </a:solidFill>
                <a:latin typeface="Calibri" panose="020F0502020204030204"/>
              </a:rPr>
              <a:t>Language-driven perception on a low-power FPGA board</a:t>
            </a:r>
            <a:endParaRPr sz="125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35040" y="4654296"/>
            <a:ext cx="4709160" cy="9144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4727448"/>
            <a:ext cx="914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700" b="1" i="0">
                <a:solidFill>
                  <a:srgbClr val="1D2F82"/>
                </a:solidFill>
                <a:latin typeface="Calibri" panose="020F0502020204030204"/>
              </a:rPr>
              <a:t>SDG 4</a:t>
            </a:r>
            <a:endParaRPr sz="1700" b="1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2320" y="4745736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sz="1250" b="1" i="0">
                <a:solidFill>
                  <a:srgbClr val="000000"/>
                </a:solidFill>
                <a:latin typeface="Calibri" panose="020F0502020204030204"/>
              </a:rPr>
              <a:t>Quality Education</a:t>
            </a:r>
            <a:endParaRPr sz="1250" b="1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200"/>
              </a:spcAft>
              <a:buNone/>
            </a:pPr>
            <a:r>
              <a:rPr sz="1250" b="0" i="0">
                <a:solidFill>
                  <a:srgbClr val="000000"/>
                </a:solidFill>
                <a:latin typeface="Calibri" panose="020F0502020204030204"/>
              </a:rPr>
              <a:t>46-class classroom detector for teaching-aid robots</a:t>
            </a:r>
            <a:endParaRPr sz="1250" b="0" i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Scope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4983480" cy="45720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2801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800" b="0" i="0">
                <a:solidFill>
                  <a:srgbClr val="1D2F82"/>
                </a:solidFill>
                <a:latin typeface="Calibri" panose="020F0502020204030204"/>
              </a:rPr>
              <a:t>Conclusion</a:t>
            </a:r>
            <a:endParaRPr sz="18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461772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295" indent="-201295">
              <a:spcAft>
                <a:spcPts val="1600"/>
              </a:spcAft>
              <a:buChar char="•"/>
            </a:pPr>
            <a:r>
              <a:rPr sz="1700" b="0" i="0">
                <a:solidFill>
                  <a:srgbClr val="000000"/>
                </a:solidFill>
                <a:latin typeface="Calibri" panose="020F0502020204030204"/>
              </a:rPr>
              <a:t>A natural-language request becomes </a:t>
            </a:r>
            <a:r>
              <a:rPr sz="1700" b="1" i="0">
                <a:solidFill>
                  <a:srgbClr val="000000"/>
                </a:solidFill>
                <a:latin typeface="Calibri" panose="020F0502020204030204"/>
              </a:rPr>
              <a:t>one robot-ready target</a:t>
            </a:r>
            <a:endParaRPr sz="1700" b="1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600"/>
              </a:spcAft>
              <a:buChar char="•"/>
            </a:pPr>
            <a:r>
              <a:rPr sz="1700" b="0" i="0">
                <a:solidFill>
                  <a:srgbClr val="000000"/>
                </a:solidFill>
                <a:latin typeface="Calibri" panose="020F0502020204030204"/>
              </a:rPr>
              <a:t>Person bias removed; task mapping </a:t>
            </a:r>
            <a:r>
              <a:rPr sz="1700" b="1" i="0">
                <a:solidFill>
                  <a:srgbClr val="000000"/>
                </a:solidFill>
                <a:latin typeface="Calibri" panose="020F0502020204030204"/>
              </a:rPr>
              <a:t>28/28</a:t>
            </a:r>
            <a:r>
              <a:rPr sz="1700" b="0" i="0">
                <a:solidFill>
                  <a:srgbClr val="000000"/>
                </a:solidFill>
                <a:latin typeface="Calibri" panose="020F0502020204030204"/>
              </a:rPr>
              <a:t>; </a:t>
            </a:r>
            <a:r>
              <a:rPr sz="1700" b="1" i="0">
                <a:solidFill>
                  <a:srgbClr val="000000"/>
                </a:solidFill>
                <a:latin typeface="Calibri" panose="020F0502020204030204"/>
              </a:rPr>
              <a:t>10/12</a:t>
            </a:r>
            <a:r>
              <a:rPr sz="1700" b="0" i="0">
                <a:solidFill>
                  <a:srgbClr val="000000"/>
                </a:solidFill>
                <a:latin typeface="Calibri" panose="020F0502020204030204"/>
              </a:rPr>
              <a:t> real-world requests correct</a:t>
            </a:r>
            <a:endParaRPr sz="17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600"/>
              </a:spcAft>
              <a:buChar char="•"/>
            </a:pPr>
            <a:r>
              <a:rPr sz="1700" b="0" i="0">
                <a:solidFill>
                  <a:srgbClr val="000000"/>
                </a:solidFill>
                <a:latin typeface="Calibri" panose="020F0502020204030204"/>
              </a:rPr>
              <a:t>46-class classroom detector at </a:t>
            </a:r>
            <a:r>
              <a:rPr sz="1700" b="1" i="0">
                <a:solidFill>
                  <a:srgbClr val="000000"/>
                </a:solidFill>
                <a:latin typeface="Calibri" panose="020F0502020204030204"/>
              </a:rPr>
              <a:t>53.1% mAP50</a:t>
            </a:r>
            <a:r>
              <a:rPr sz="1700" b="0" i="0">
                <a:solidFill>
                  <a:srgbClr val="000000"/>
                </a:solidFill>
                <a:latin typeface="Calibri" panose="020F0502020204030204"/>
              </a:rPr>
              <a:t>, ready for board deployment</a:t>
            </a:r>
            <a:endParaRPr sz="170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600"/>
              </a:spcAft>
              <a:buChar char="•"/>
            </a:pPr>
            <a:r>
              <a:rPr sz="1700" b="0" i="0">
                <a:solidFill>
                  <a:srgbClr val="000000"/>
                </a:solidFill>
                <a:latin typeface="Calibri" panose="020F0502020204030204"/>
              </a:rPr>
              <a:t>Pipeline executed on the PYNQ-Z2 ARM processor; PL accelerator designed</a:t>
            </a:r>
            <a:endParaRPr sz="17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60720" y="1143000"/>
            <a:ext cx="4983480" cy="457200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61888" y="12801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  <a:buNone/>
            </a:pPr>
            <a:r>
              <a:rPr sz="1800" b="0" i="0">
                <a:solidFill>
                  <a:srgbClr val="1D2F82"/>
                </a:solidFill>
                <a:latin typeface="Calibri" panose="020F0502020204030204"/>
              </a:rPr>
              <a:t>Future scope</a:t>
            </a:r>
            <a:endParaRPr sz="1800" b="0" i="0">
              <a:solidFill>
                <a:srgbClr val="1D2F8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61888" y="1737360"/>
            <a:ext cx="461772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295" indent="-201295">
              <a:spcAft>
                <a:spcPts val="1200"/>
              </a:spcAft>
              <a:buAutoNum type="arabicPeriod"/>
            </a:pPr>
            <a:r>
              <a:rPr sz="1650" b="0" i="0">
                <a:solidFill>
                  <a:srgbClr val="000000"/>
                </a:solidFill>
                <a:latin typeface="Calibri" panose="020F0502020204030204"/>
              </a:rPr>
              <a:t>Deploy the INT8 detector as the PL overlay; report FPS, power, LUT/DSP/BRAM</a:t>
            </a:r>
            <a:endParaRPr sz="16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200"/>
              </a:spcAft>
              <a:buAutoNum type="arabicPeriod"/>
            </a:pPr>
            <a:r>
              <a:rPr sz="1650" b="0" i="0">
                <a:solidFill>
                  <a:srgbClr val="000000"/>
                </a:solidFill>
                <a:latin typeface="Calibri" panose="020F0502020204030204"/>
              </a:rPr>
              <a:t>Live camera over AXI VDMA with HDMI output</a:t>
            </a:r>
            <a:endParaRPr sz="16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200"/>
              </a:spcAft>
              <a:buAutoNum type="arabicPeriod"/>
            </a:pPr>
            <a:r>
              <a:rPr sz="1650" b="0" i="0">
                <a:solidFill>
                  <a:srgbClr val="000000"/>
                </a:solidFill>
                <a:latin typeface="Calibri" panose="020F0502020204030204"/>
              </a:rPr>
              <a:t>Dashboard “board mode” with on-board timing</a:t>
            </a:r>
            <a:endParaRPr sz="16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200"/>
              </a:spcAft>
              <a:buAutoNum type="arabicPeriod"/>
            </a:pPr>
            <a:r>
              <a:rPr sz="1650" b="0" i="0">
                <a:solidFill>
                  <a:srgbClr val="000000"/>
                </a:solidFill>
                <a:latin typeface="Calibri" panose="020F0502020204030204"/>
              </a:rPr>
              <a:t>Label local classroom images to close the domain gap</a:t>
            </a:r>
            <a:endParaRPr sz="16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200"/>
              </a:spcAft>
              <a:buAutoNum type="arabicPeriod"/>
            </a:pPr>
            <a:r>
              <a:rPr sz="1650" b="0" i="0">
                <a:solidFill>
                  <a:srgbClr val="000000"/>
                </a:solidFill>
                <a:latin typeface="Calibri" panose="020F0502020204030204"/>
              </a:rPr>
              <a:t>Confidence gate + robot arm/navigation demo</a:t>
            </a:r>
            <a:endParaRPr sz="1650" b="0" i="0">
              <a:solidFill>
                <a:srgbClr val="000000"/>
              </a:solidFill>
              <a:latin typeface="Calibri" panose="020F0502020204030204"/>
            </a:endParaRPr>
          </a:p>
          <a:p>
            <a:pPr marL="201295" indent="-201295">
              <a:spcAft>
                <a:spcPts val="1200"/>
              </a:spcAft>
              <a:buAutoNum type="arabicPeriod"/>
            </a:pPr>
            <a:r>
              <a:rPr sz="1650" b="0" i="0">
                <a:solidFill>
                  <a:srgbClr val="000000"/>
                </a:solidFill>
                <a:latin typeface="Calibri" panose="020F0502020204030204"/>
              </a:rPr>
              <a:t>Speech input for spoken requests</a:t>
            </a:r>
            <a:endParaRPr sz="1650" b="0" i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18872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[1]  J. Redmon et al., “You Only Look Once,” CVPR, 2016.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[2]  J. Redmon, A. Farhadi, “YOLO9000,” CVPR, 2017.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[3]  Z. Yan et al., “FPGA-based YOLOv5 accelerator,” Micromachines, 2024.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[4]  E. Emmanuel et al., “FPGA YOLOv8 using Vivado HLS,” AIBThings, 2024.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[5]  X. Sha et al., “FPGA-based YOLOv6 accelerator,” IEICE Trans., 2025.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[6]  Z. Zhang et al., “Resource-constrained FPGA YOLOv2,” Neural Comput. Appl., 2022.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[7]  Y. Umuroglu et al., “FINN,” ACM/SIGDA FPGA, 2017.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[8]  A. Radford et al., “Learning transferable visual models (CLIP),” ICML, 2021.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[9]  J. Sawatzky et al., “What object should I use?,” CVPR, 2019.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[10]  P. Li et al., “TOIST,” NeurIPS, 2022.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[11]  J. Tang et al., “CoTDet,” ICCV, 2023.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06440" y="1188720"/>
            <a:ext cx="50292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[12]  M. Minderer et al., “Simple open-vocabulary detection (OWL-ViT),” ECCV, 2022.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[13]  T. Cheng et al., “YOLO-World,” CVPR, 2024.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[14]  M. Shridhar et al., “CLIPort,” CoRL, 2021.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[15]  M. Ahn et al., “Do as I can, not as I say (SayCan),” CoRL, 2022.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[16]  G. Jocher, J. Qiu, “Ultralytics YOLO11,” 2024.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[17]  A. Kuznetsova et al., “Open Images Dataset V4,” IJCV, 2020.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[18]  T.-Y. Lin et al., “Microsoft COCO,” ECCV, 2014.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[19]  M. Radovanović et al., “Hubs in space,” JMLR, 2010.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[20]  AMD/Xilinx, “PYNQ: Python Productivity for Zynq.”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[21]  TUL Corp., “PYNQ-Z2 Reference Manual.”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  <a:p>
            <a:pPr>
              <a:spcAft>
                <a:spcPts val="600"/>
              </a:spcAft>
              <a:buNone/>
            </a:pPr>
            <a:r>
              <a:rPr sz="1300" b="0" i="0">
                <a:solidFill>
                  <a:srgbClr val="000000"/>
                </a:solidFill>
                <a:latin typeface="Calibri" panose="020F0502020204030204"/>
              </a:rPr>
              <a:t>[22]  G. Ilharco et al., “OpenCLIP,” Zenodo, 2021.</a:t>
            </a:r>
            <a:endParaRPr sz="1300" b="0" i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0195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sz="1100" b="0" i="0">
                <a:solidFill>
                  <a:srgbClr val="595959"/>
                </a:solidFill>
                <a:latin typeface="Calibri" panose="020F0502020204030204"/>
              </a:rPr>
              <a:t>Full IEEE-format entries are in the project report bibliography.</a:t>
            </a:r>
            <a:endParaRPr sz="1100" b="0" i="0">
              <a:solidFill>
                <a:srgbClr val="59595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Shubh Gupta · Aarav Sharma · Ankush Kumar Jaiswal   |   Project-I (2026) · SENSE · VIT Chennai</a:t>
            </a:r>
            <a:endParaRPr 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800" b="0" i="0">
                <a:solidFill>
                  <a:srgbClr val="595959"/>
                </a:solidFill>
                <a:latin typeface="Calibri" panose="020F0502020204030204"/>
              </a:rPr>
              <a:t>Questions?</a:t>
            </a:r>
            <a:endParaRPr sz="1800" b="0" i="0">
              <a:solidFill>
                <a:srgbClr val="59595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16804</Words>
  <Application>WPS Presentation</Application>
  <PresentationFormat>Widescreen</PresentationFormat>
  <Paragraphs>1209</Paragraphs>
  <Slides>27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SimSun</vt:lpstr>
      <vt:lpstr>Wingdings</vt:lpstr>
      <vt:lpstr>Calibri</vt:lpstr>
      <vt:lpstr>Calibri</vt:lpstr>
      <vt:lpstr>Calibri</vt:lpstr>
      <vt:lpstr>Calibri</vt:lpstr>
      <vt:lpstr>Courier New</vt:lpstr>
      <vt:lpstr>Microsoft YaHei</vt:lpstr>
      <vt:lpstr>Arial Unicode MS</vt:lpstr>
      <vt:lpstr>Aptos</vt:lpstr>
      <vt:lpstr>Segoe UI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Shubh Gupta</cp:lastModifiedBy>
  <cp:revision>3</cp:revision>
  <dcterms:created xsi:type="dcterms:W3CDTF">2026-08-27T09:57:00Z</dcterms:created>
  <dcterms:modified xsi:type="dcterms:W3CDTF">2026-10-26T15:30:11Z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7EC45CC362B2408CB70D9590A42525B9_12</vt:lpwstr>
  </property>
  <property fmtid="{D5CDD505-2E9C-101B-9397-08002B2CF9AE}" pid="3" name="KSOProductBuildVer">
    <vt:lpwstr>2057-12.2.0.23206</vt:lpwstr>
  </property>
</Properties>
</file>